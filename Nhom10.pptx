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8" r:id="rId3"/>
    <p:sldId id="279" r:id="rId4"/>
    <p:sldId id="281" r:id="rId5"/>
    <p:sldId id="282" r:id="rId6"/>
    <p:sldId id="283" r:id="rId7"/>
    <p:sldId id="284" r:id="rId8"/>
    <p:sldId id="285" r:id="rId9"/>
    <p:sldId id="287" r:id="rId10"/>
    <p:sldId id="288" r:id="rId11"/>
    <p:sldId id="289" r:id="rId12"/>
    <p:sldId id="290" r:id="rId13"/>
    <p:sldId id="280" r:id="rId14"/>
    <p:sldId id="292" r:id="rId15"/>
    <p:sldId id="293" r:id="rId16"/>
    <p:sldId id="294" r:id="rId17"/>
    <p:sldId id="295" r:id="rId18"/>
    <p:sldId id="296" r:id="rId19"/>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00" d="100"/>
          <a:sy n="100" d="100"/>
        </p:scale>
        <p:origin x="931"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p:cNvPicPr>
            <a:picLocks noChangeAspect="1"/>
          </p:cNvPicPr>
          <p:nvPr/>
        </p:nvPicPr>
        <p:blipFill>
          <a:blip r:embed="rId2"/>
          <a:stretch>
            <a:fillRect/>
          </a:stretch>
        </p:blipFill>
        <p:spPr>
          <a:xfrm rot="21600000">
            <a:off x="0" y="0"/>
            <a:ext cx="9144000" cy="5143500"/>
          </a:xfrm>
          <a:prstGeom prst="rect">
            <a:avLst/>
          </a:prstGeom>
        </p:spPr>
      </p:pic>
      <p:sp>
        <p:nvSpPr>
          <p:cNvPr id="2" name="textbox 2"/>
          <p:cNvSpPr/>
          <p:nvPr/>
        </p:nvSpPr>
        <p:spPr>
          <a:xfrm>
            <a:off x="2633348" y="2918728"/>
            <a:ext cx="3879850" cy="923925"/>
          </a:xfrm>
          <a:prstGeom prst="rect">
            <a:avLst/>
          </a:prstGeom>
        </p:spPr>
        <p:txBody>
          <a:bodyPr vert="horz" wrap="square" lIns="0" tIns="0" rIns="0" bIns="0"/>
          <a:lstStyle/>
          <a:p>
            <a:pPr algn="l" rtl="0" eaLnBrk="0">
              <a:lnSpc>
                <a:spcPct val="92225"/>
              </a:lnSpc>
              <a:tabLst/>
            </a:pPr>
            <a:endParaRPr lang="Arial" altLang="Arial" sz="100" dirty="0"/>
          </a:p>
          <a:p>
            <a:pPr indent="12700" algn="l" rtl="0" eaLnBrk="0">
              <a:lnSpc>
                <a:spcPct val="94000"/>
              </a:lnSpc>
              <a:tabLst/>
            </a:pPr>
            <a:r>
              <a:rPr sz="4300" spc="-140" dirty="0">
                <a:solidFill>
                  <a:srgbClr val="CFECF9">
                    <a:alpha val="100000"/>
                  </a:srgbClr>
                </a:solidFill>
                <a:latin typeface="Arial"/>
                <a:ea typeface="Arial"/>
                <a:cs typeface="Arial"/>
              </a:rPr>
              <a:t>T</a:t>
            </a:r>
            <a:r>
              <a:rPr sz="4300" spc="-150" dirty="0">
                <a:solidFill>
                  <a:srgbClr val="CFECF9">
                    <a:alpha val="100000"/>
                  </a:srgbClr>
                </a:solidFill>
                <a:latin typeface="Arial"/>
                <a:ea typeface="Arial"/>
                <a:cs typeface="Arial"/>
              </a:rPr>
              <a:t>E</a:t>
            </a:r>
            <a:r>
              <a:rPr sz="4300" spc="-160" dirty="0">
                <a:solidFill>
                  <a:srgbClr val="CFECF9">
                    <a:alpha val="100000"/>
                  </a:srgbClr>
                </a:solidFill>
                <a:latin typeface="Arial"/>
                <a:ea typeface="Arial"/>
                <a:cs typeface="Arial"/>
              </a:rPr>
              <a:t>CH</a:t>
            </a:r>
            <a:r>
              <a:rPr sz="4300" spc="-965" dirty="0">
                <a:solidFill>
                  <a:srgbClr val="CFECF9">
                    <a:alpha val="100000"/>
                  </a:srgbClr>
                </a:solidFill>
                <a:latin typeface="Arial"/>
                <a:ea typeface="Arial"/>
                <a:cs typeface="Arial"/>
              </a:rPr>
              <a:t> </a:t>
            </a:r>
            <a:r>
              <a:rPr sz="4300" spc="-150" dirty="0">
                <a:solidFill>
                  <a:srgbClr val="CFECF9">
                    <a:alpha val="100000"/>
                  </a:srgbClr>
                </a:solidFill>
                <a:latin typeface="Arial"/>
                <a:ea typeface="Arial"/>
                <a:cs typeface="Arial"/>
              </a:rPr>
              <a:t>S</a:t>
            </a:r>
            <a:r>
              <a:rPr sz="4300" spc="-140" dirty="0">
                <a:solidFill>
                  <a:srgbClr val="CFECF9">
                    <a:alpha val="100000"/>
                  </a:srgbClr>
                </a:solidFill>
                <a:latin typeface="Arial"/>
                <a:ea typeface="Arial"/>
                <a:cs typeface="Arial"/>
              </a:rPr>
              <a:t>T</a:t>
            </a:r>
            <a:r>
              <a:rPr sz="4300" spc="-150" dirty="0">
                <a:solidFill>
                  <a:srgbClr val="CFECF9">
                    <a:alpha val="100000"/>
                  </a:srgbClr>
                </a:solidFill>
                <a:latin typeface="Arial"/>
                <a:ea typeface="Arial"/>
                <a:cs typeface="Arial"/>
              </a:rPr>
              <a:t>A</a:t>
            </a:r>
            <a:r>
              <a:rPr sz="4300" spc="-160" dirty="0">
                <a:solidFill>
                  <a:srgbClr val="CFECF9">
                    <a:alpha val="100000"/>
                  </a:srgbClr>
                </a:solidFill>
                <a:latin typeface="Arial"/>
                <a:ea typeface="Arial"/>
                <a:cs typeface="Arial"/>
              </a:rPr>
              <a:t>R</a:t>
            </a:r>
            <a:r>
              <a:rPr sz="4300" spc="-140" dirty="0">
                <a:solidFill>
                  <a:srgbClr val="CFECF9">
                    <a:alpha val="100000"/>
                  </a:srgbClr>
                </a:solidFill>
                <a:latin typeface="Arial"/>
                <a:ea typeface="Arial"/>
                <a:cs typeface="Arial"/>
              </a:rPr>
              <a:t>T</a:t>
            </a:r>
            <a:r>
              <a:rPr sz="4300" spc="-160" dirty="0">
                <a:solidFill>
                  <a:srgbClr val="CFECF9">
                    <a:alpha val="100000"/>
                  </a:srgbClr>
                </a:solidFill>
                <a:latin typeface="Arial"/>
                <a:ea typeface="Arial"/>
                <a:cs typeface="Arial"/>
              </a:rPr>
              <a:t>U</a:t>
            </a:r>
            <a:r>
              <a:rPr sz="4300" spc="-150" dirty="0">
                <a:solidFill>
                  <a:srgbClr val="CFECF9">
                    <a:alpha val="100000"/>
                  </a:srgbClr>
                </a:solidFill>
                <a:latin typeface="Arial"/>
                <a:ea typeface="Arial"/>
                <a:cs typeface="Arial"/>
              </a:rPr>
              <a:t>P</a:t>
            </a:r>
            <a:endParaRPr lang="Arial" altLang="Arial" sz="4300" dirty="0"/>
          </a:p>
          <a:p>
            <a:pPr algn="l" rtl="0" eaLnBrk="0">
              <a:lnSpc>
                <a:spcPct val="112000"/>
              </a:lnSpc>
              <a:tabLst/>
            </a:pPr>
            <a:endParaRPr lang="Arial" altLang="Arial" sz="500" dirty="0"/>
          </a:p>
          <a:p>
            <a:pPr indent="477769" algn="l" rtl="0" eaLnBrk="0">
              <a:lnSpc>
                <a:spcPts val="1536"/>
              </a:lnSpc>
              <a:spcBef>
                <a:spcPts val="2"/>
              </a:spcBef>
              <a:tabLst/>
            </a:pPr>
            <a:r>
              <a:rPr sz="1200" spc="100" dirty="0">
                <a:solidFill>
                  <a:srgbClr val="CFECF9">
                    <a:alpha val="100000"/>
                  </a:srgbClr>
                </a:solidFill>
                <a:latin typeface="Arial"/>
                <a:ea typeface="Arial"/>
                <a:cs typeface="Arial"/>
              </a:rPr>
              <a:t>H</a:t>
            </a:r>
            <a:r>
              <a:rPr sz="1200" spc="70" dirty="0">
                <a:solidFill>
                  <a:srgbClr val="CFECF9">
                    <a:alpha val="100000"/>
                  </a:srgbClr>
                </a:solidFill>
                <a:latin typeface="Arial"/>
                <a:ea typeface="Arial"/>
                <a:cs typeface="Arial"/>
              </a:rPr>
              <a:t>e</a:t>
            </a:r>
            <a:r>
              <a:rPr sz="1200" spc="40" dirty="0">
                <a:solidFill>
                  <a:srgbClr val="CFECF9">
                    <a:alpha val="100000"/>
                  </a:srgbClr>
                </a:solidFill>
                <a:latin typeface="Arial"/>
                <a:ea typeface="Arial"/>
                <a:cs typeface="Arial"/>
              </a:rPr>
              <a:t>r</a:t>
            </a:r>
            <a:r>
              <a:rPr sz="1200" spc="70" dirty="0">
                <a:solidFill>
                  <a:srgbClr val="CFECF9">
                    <a:alpha val="100000"/>
                  </a:srgbClr>
                </a:solidFill>
                <a:latin typeface="Arial"/>
                <a:ea typeface="Arial"/>
                <a:cs typeface="Arial"/>
              </a:rPr>
              <a:t>e</a:t>
            </a:r>
            <a:r>
              <a:rPr sz="1200" spc="50" dirty="0">
                <a:solidFill>
                  <a:srgbClr val="CFECF9">
                    <a:alpha val="100000"/>
                  </a:srgbClr>
                </a:solidFill>
                <a:latin typeface="Arial"/>
                <a:ea typeface="Arial"/>
                <a:cs typeface="Arial"/>
              </a:rPr>
              <a:t> </a:t>
            </a:r>
            <a:r>
              <a:rPr sz="1200" spc="30" dirty="0">
                <a:solidFill>
                  <a:srgbClr val="CFECF9">
                    <a:alpha val="100000"/>
                  </a:srgbClr>
                </a:solidFill>
                <a:latin typeface="Arial"/>
                <a:ea typeface="Arial"/>
                <a:cs typeface="Arial"/>
              </a:rPr>
              <a:t>i</a:t>
            </a:r>
            <a:r>
              <a:rPr sz="1200" spc="60" dirty="0">
                <a:solidFill>
                  <a:srgbClr val="CFECF9">
                    <a:alpha val="100000"/>
                  </a:srgbClr>
                </a:solidFill>
                <a:latin typeface="Arial"/>
                <a:ea typeface="Arial"/>
                <a:cs typeface="Arial"/>
              </a:rPr>
              <a:t>s</a:t>
            </a:r>
            <a:r>
              <a:rPr sz="1200" spc="50" dirty="0">
                <a:solidFill>
                  <a:srgbClr val="CFECF9">
                    <a:alpha val="100000"/>
                  </a:srgbClr>
                </a:solidFill>
                <a:latin typeface="Arial"/>
                <a:ea typeface="Arial"/>
                <a:cs typeface="Arial"/>
              </a:rPr>
              <a:t> </a:t>
            </a:r>
            <a:r>
              <a:rPr sz="1200" spc="90" dirty="0">
                <a:solidFill>
                  <a:srgbClr val="CFECF9">
                    <a:alpha val="100000"/>
                  </a:srgbClr>
                </a:solidFill>
                <a:latin typeface="Arial"/>
                <a:ea typeface="Arial"/>
                <a:cs typeface="Arial"/>
              </a:rPr>
              <a:t>w</a:t>
            </a:r>
            <a:r>
              <a:rPr sz="1200" spc="70" dirty="0">
                <a:solidFill>
                  <a:srgbClr val="CFECF9">
                    <a:alpha val="100000"/>
                  </a:srgbClr>
                </a:solidFill>
                <a:latin typeface="Arial"/>
                <a:ea typeface="Arial"/>
                <a:cs typeface="Arial"/>
              </a:rPr>
              <a:t>he</a:t>
            </a:r>
            <a:r>
              <a:rPr sz="1200" spc="40" dirty="0">
                <a:solidFill>
                  <a:srgbClr val="CFECF9">
                    <a:alpha val="100000"/>
                  </a:srgbClr>
                </a:solidFill>
                <a:latin typeface="Arial"/>
                <a:ea typeface="Arial"/>
                <a:cs typeface="Arial"/>
              </a:rPr>
              <a:t>r</a:t>
            </a:r>
            <a:r>
              <a:rPr sz="1200" spc="70" dirty="0">
                <a:solidFill>
                  <a:srgbClr val="CFECF9">
                    <a:alpha val="100000"/>
                  </a:srgbClr>
                </a:solidFill>
                <a:latin typeface="Arial"/>
                <a:ea typeface="Arial"/>
                <a:cs typeface="Arial"/>
              </a:rPr>
              <a:t>e</a:t>
            </a:r>
            <a:r>
              <a:rPr sz="1200" spc="50" dirty="0">
                <a:solidFill>
                  <a:srgbClr val="CFECF9">
                    <a:alpha val="100000"/>
                  </a:srgbClr>
                </a:solidFill>
                <a:latin typeface="Arial"/>
                <a:ea typeface="Arial"/>
                <a:cs typeface="Arial"/>
              </a:rPr>
              <a:t> </a:t>
            </a:r>
            <a:r>
              <a:rPr sz="1200" spc="60" dirty="0">
                <a:solidFill>
                  <a:srgbClr val="CFECF9">
                    <a:alpha val="100000"/>
                  </a:srgbClr>
                </a:solidFill>
                <a:latin typeface="Arial"/>
                <a:ea typeface="Arial"/>
                <a:cs typeface="Arial"/>
              </a:rPr>
              <a:t>y</a:t>
            </a:r>
            <a:r>
              <a:rPr sz="1200" spc="70" dirty="0">
                <a:solidFill>
                  <a:srgbClr val="CFECF9">
                    <a:alpha val="100000"/>
                  </a:srgbClr>
                </a:solidFill>
                <a:latin typeface="Arial"/>
                <a:ea typeface="Arial"/>
                <a:cs typeface="Arial"/>
              </a:rPr>
              <a:t>ou</a:t>
            </a:r>
            <a:r>
              <a:rPr sz="1200" spc="40" dirty="0">
                <a:solidFill>
                  <a:srgbClr val="CFECF9">
                    <a:alpha val="100000"/>
                  </a:srgbClr>
                </a:solidFill>
                <a:latin typeface="Arial"/>
                <a:ea typeface="Arial"/>
                <a:cs typeface="Arial"/>
              </a:rPr>
              <a:t>r</a:t>
            </a:r>
            <a:r>
              <a:rPr sz="1200" spc="50" dirty="0">
                <a:solidFill>
                  <a:srgbClr val="CFECF9">
                    <a:alpha val="100000"/>
                  </a:srgbClr>
                </a:solidFill>
                <a:latin typeface="Arial"/>
                <a:ea typeface="Arial"/>
                <a:cs typeface="Arial"/>
              </a:rPr>
              <a:t> </a:t>
            </a:r>
            <a:r>
              <a:rPr sz="1200" spc="70" dirty="0">
                <a:solidFill>
                  <a:srgbClr val="CFECF9">
                    <a:alpha val="100000"/>
                  </a:srgbClr>
                </a:solidFill>
                <a:latin typeface="Arial"/>
                <a:ea typeface="Arial"/>
                <a:cs typeface="Arial"/>
              </a:rPr>
              <a:t>p</a:t>
            </a:r>
            <a:r>
              <a:rPr sz="1200" spc="40" dirty="0">
                <a:solidFill>
                  <a:srgbClr val="CFECF9">
                    <a:alpha val="100000"/>
                  </a:srgbClr>
                </a:solidFill>
                <a:latin typeface="Arial"/>
                <a:ea typeface="Arial"/>
                <a:cs typeface="Arial"/>
              </a:rPr>
              <a:t>r</a:t>
            </a:r>
            <a:r>
              <a:rPr sz="1200" spc="70" dirty="0">
                <a:solidFill>
                  <a:srgbClr val="CFECF9">
                    <a:alpha val="100000"/>
                  </a:srgbClr>
                </a:solidFill>
                <a:latin typeface="Arial"/>
                <a:ea typeface="Arial"/>
                <a:cs typeface="Arial"/>
              </a:rPr>
              <a:t>e</a:t>
            </a:r>
            <a:r>
              <a:rPr sz="1200" spc="60" dirty="0">
                <a:solidFill>
                  <a:srgbClr val="CFECF9">
                    <a:alpha val="100000"/>
                  </a:srgbClr>
                </a:solidFill>
                <a:latin typeface="Arial"/>
                <a:ea typeface="Arial"/>
                <a:cs typeface="Arial"/>
              </a:rPr>
              <a:t>s</a:t>
            </a:r>
            <a:r>
              <a:rPr sz="1200" spc="70" dirty="0">
                <a:solidFill>
                  <a:srgbClr val="CFECF9">
                    <a:alpha val="100000"/>
                  </a:srgbClr>
                </a:solidFill>
                <a:latin typeface="Arial"/>
                <a:ea typeface="Arial"/>
                <a:cs typeface="Arial"/>
              </a:rPr>
              <a:t>en</a:t>
            </a:r>
            <a:r>
              <a:rPr sz="1200" spc="40" dirty="0">
                <a:solidFill>
                  <a:srgbClr val="CFECF9">
                    <a:alpha val="100000"/>
                  </a:srgbClr>
                </a:solidFill>
                <a:latin typeface="Arial"/>
                <a:ea typeface="Arial"/>
                <a:cs typeface="Arial"/>
              </a:rPr>
              <a:t>t</a:t>
            </a:r>
            <a:r>
              <a:rPr sz="1200" spc="70" dirty="0">
                <a:solidFill>
                  <a:srgbClr val="CFECF9">
                    <a:alpha val="100000"/>
                  </a:srgbClr>
                </a:solidFill>
                <a:latin typeface="Arial"/>
                <a:ea typeface="Arial"/>
                <a:cs typeface="Arial"/>
              </a:rPr>
              <a:t>a</a:t>
            </a:r>
            <a:r>
              <a:rPr sz="1200" spc="40" dirty="0">
                <a:solidFill>
                  <a:srgbClr val="CFECF9">
                    <a:alpha val="100000"/>
                  </a:srgbClr>
                </a:solidFill>
                <a:latin typeface="Arial"/>
                <a:ea typeface="Arial"/>
                <a:cs typeface="Arial"/>
              </a:rPr>
              <a:t>t</a:t>
            </a:r>
            <a:r>
              <a:rPr sz="1200" spc="30" dirty="0">
                <a:solidFill>
                  <a:srgbClr val="CFECF9">
                    <a:alpha val="100000"/>
                  </a:srgbClr>
                </a:solidFill>
                <a:latin typeface="Arial"/>
                <a:ea typeface="Arial"/>
                <a:cs typeface="Arial"/>
              </a:rPr>
              <a:t>i</a:t>
            </a:r>
            <a:r>
              <a:rPr sz="1200" spc="70" dirty="0">
                <a:solidFill>
                  <a:srgbClr val="CFECF9">
                    <a:alpha val="100000"/>
                  </a:srgbClr>
                </a:solidFill>
                <a:latin typeface="Arial"/>
                <a:ea typeface="Arial"/>
                <a:cs typeface="Arial"/>
              </a:rPr>
              <a:t>on</a:t>
            </a:r>
            <a:r>
              <a:rPr sz="1200" spc="50" dirty="0">
                <a:solidFill>
                  <a:srgbClr val="CFECF9">
                    <a:alpha val="100000"/>
                  </a:srgbClr>
                </a:solidFill>
                <a:latin typeface="Arial"/>
                <a:ea typeface="Arial"/>
                <a:cs typeface="Arial"/>
              </a:rPr>
              <a:t> </a:t>
            </a:r>
            <a:r>
              <a:rPr sz="1200" spc="70" dirty="0">
                <a:solidFill>
                  <a:srgbClr val="CFECF9">
                    <a:alpha val="100000"/>
                  </a:srgbClr>
                </a:solidFill>
                <a:latin typeface="Arial"/>
                <a:ea typeface="Arial"/>
                <a:cs typeface="Arial"/>
              </a:rPr>
              <a:t>beg</a:t>
            </a:r>
            <a:r>
              <a:rPr sz="1200" spc="30" dirty="0">
                <a:solidFill>
                  <a:srgbClr val="CFECF9">
                    <a:alpha val="100000"/>
                  </a:srgbClr>
                </a:solidFill>
                <a:latin typeface="Arial"/>
                <a:ea typeface="Arial"/>
                <a:cs typeface="Arial"/>
              </a:rPr>
              <a:t>i</a:t>
            </a:r>
            <a:r>
              <a:rPr sz="1200" spc="70" dirty="0">
                <a:solidFill>
                  <a:srgbClr val="CFECF9">
                    <a:alpha val="100000"/>
                  </a:srgbClr>
                </a:solidFill>
                <a:latin typeface="Arial"/>
                <a:ea typeface="Arial"/>
                <a:cs typeface="Arial"/>
              </a:rPr>
              <a:t>n</a:t>
            </a:r>
            <a:r>
              <a:rPr sz="1200" spc="60" dirty="0">
                <a:solidFill>
                  <a:srgbClr val="CFECF9">
                    <a:alpha val="100000"/>
                  </a:srgbClr>
                </a:solidFill>
                <a:latin typeface="Arial"/>
                <a:ea typeface="Arial"/>
                <a:cs typeface="Arial"/>
              </a:rPr>
              <a:t>s</a:t>
            </a:r>
            <a:endParaRPr lang="Arial" altLang="Arial"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sp>
        <p:nvSpPr>
          <p:cNvPr id="18" name="textbox 18"/>
          <p:cNvSpPr/>
          <p:nvPr/>
        </p:nvSpPr>
        <p:spPr>
          <a:xfrm>
            <a:off x="1877726" y="1488177"/>
            <a:ext cx="6119961" cy="1645920"/>
          </a:xfrm>
          <a:prstGeom prst="rect">
            <a:avLst/>
          </a:prstGeom>
        </p:spPr>
        <p:txBody>
          <a:bodyPr vert="horz" wrap="square" lIns="0" tIns="0" rIns="0" bIns="0"/>
          <a:lstStyle/>
          <a:p>
            <a:pPr lvl="0"/>
            <a:r>
              <a:rPr lang="en-US" smtClean="0"/>
              <a:t>HTML, viết tắt của "HyperText Markup Language," là một ngôn ngữ lập trình dùng để tạo ra các trang web trên internet. HTML được sử dụng để định dạng và cấu trúc nội dung của một trang web bằng cách sử dụng các thẻ và các phần tử HTML. Dưới đây là một hướng dẫn sơ bộ về cách tạo một tệp HTML cơ bản, tạo trang web với tiêu đề, đoạn văn bản, hình ảnh và siêu liên kết, cũng như một số cú pháp và phần tử HTML cơ bản</a:t>
            </a:r>
            <a:endParaRPr lang="en-US" sz="800">
              <a:latin typeface="Times New Roman" panose="02020603050405020304" pitchFamily="18" charset="0"/>
              <a:cs typeface="Times New Roman" panose="02020603050405020304" pitchFamily="18" charset="0"/>
            </a:endParaRPr>
          </a:p>
        </p:txBody>
      </p:sp>
      <p:pic>
        <p:nvPicPr>
          <p:cNvPr id="19" name="picture 19"/>
          <p:cNvPicPr>
            <a:picLocks noChangeAspect="1"/>
          </p:cNvPicPr>
          <p:nvPr/>
        </p:nvPicPr>
        <p:blipFill>
          <a:blip r:embed="rId3"/>
          <a:stretch>
            <a:fillRect/>
          </a:stretch>
        </p:blipFill>
        <p:spPr>
          <a:xfrm rot="21600000">
            <a:off x="0" y="0"/>
            <a:ext cx="1780032" cy="2075688"/>
          </a:xfrm>
          <a:prstGeom prst="rect">
            <a:avLst/>
          </a:prstGeom>
        </p:spPr>
      </p:pic>
      <p:pic>
        <p:nvPicPr>
          <p:cNvPr id="20" name="picture 20"/>
          <p:cNvPicPr>
            <a:picLocks noChangeAspect="1"/>
          </p:cNvPicPr>
          <p:nvPr/>
        </p:nvPicPr>
        <p:blipFill>
          <a:blip r:embed="rId4"/>
          <a:stretch>
            <a:fillRect/>
          </a:stretch>
        </p:blipFill>
        <p:spPr>
          <a:xfrm rot="21600000">
            <a:off x="7363967" y="3069336"/>
            <a:ext cx="1780032" cy="2074163"/>
          </a:xfrm>
          <a:prstGeom prst="rect">
            <a:avLst/>
          </a:prstGeom>
        </p:spPr>
      </p:pic>
      <p:sp>
        <p:nvSpPr>
          <p:cNvPr id="2" name="Rectangle 1"/>
          <p:cNvSpPr/>
          <p:nvPr/>
        </p:nvSpPr>
        <p:spPr>
          <a:xfrm>
            <a:off x="1733650" y="776234"/>
            <a:ext cx="4237863" cy="523220"/>
          </a:xfrm>
          <a:prstGeom prst="rect">
            <a:avLst/>
          </a:prstGeom>
        </p:spPr>
        <p:txBody>
          <a:bodyPr wrap="square">
            <a:spAutoFit/>
          </a:bodyPr>
          <a:lstStyle/>
          <a:p>
            <a:pPr lvl="0"/>
            <a:r>
              <a:rPr lang="en-ID" sz="2800" b="1">
                <a:latin typeface="Times New Roman" panose="02020603050405020304" pitchFamily="18" charset="0"/>
                <a:cs typeface="Times New Roman" panose="02020603050405020304" pitchFamily="18" charset="0"/>
              </a:rPr>
              <a:t>1.Giới thiệu HTML</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10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circle(in)">
                                      <p:cBhvr>
                                        <p:cTn id="14"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sp>
        <p:nvSpPr>
          <p:cNvPr id="18" name="textbox 18"/>
          <p:cNvSpPr/>
          <p:nvPr/>
        </p:nvSpPr>
        <p:spPr>
          <a:xfrm>
            <a:off x="653176" y="1664014"/>
            <a:ext cx="8310812" cy="1645920"/>
          </a:xfrm>
          <a:prstGeom prst="rect">
            <a:avLst/>
          </a:prstGeom>
        </p:spPr>
        <p:txBody>
          <a:bodyPr vert="horz" wrap="square" lIns="0" tIns="0" rIns="0" bIns="0"/>
          <a:lstStyle/>
          <a:p>
            <a:r>
              <a:rPr lang="en-US"/>
              <a:t>Để tạo một tệp HTML cơ bản, bạn chỉ cần sử dụng bất kỳ trình soạn thảo văn bản nào, như Notepad (trên Windows) hoặc Visual Studio Code, và sau đó lưu tệp đó với phần mở rộng ".html". Dưới đây là một ví dụ về một tệp HTML đơn giản:</a:t>
            </a:r>
          </a:p>
        </p:txBody>
      </p:sp>
      <p:pic>
        <p:nvPicPr>
          <p:cNvPr id="19" name="picture 19"/>
          <p:cNvPicPr>
            <a:picLocks noChangeAspect="1"/>
          </p:cNvPicPr>
          <p:nvPr/>
        </p:nvPicPr>
        <p:blipFill>
          <a:blip r:embed="rId3"/>
          <a:stretch>
            <a:fillRect/>
          </a:stretch>
        </p:blipFill>
        <p:spPr>
          <a:xfrm rot="21600000">
            <a:off x="-236840" y="-545649"/>
            <a:ext cx="1780032" cy="2075688"/>
          </a:xfrm>
          <a:prstGeom prst="rect">
            <a:avLst/>
          </a:prstGeom>
        </p:spPr>
      </p:pic>
      <p:pic>
        <p:nvPicPr>
          <p:cNvPr id="20" name="picture 20"/>
          <p:cNvPicPr>
            <a:picLocks noChangeAspect="1"/>
          </p:cNvPicPr>
          <p:nvPr/>
        </p:nvPicPr>
        <p:blipFill>
          <a:blip r:embed="rId4"/>
          <a:stretch>
            <a:fillRect/>
          </a:stretch>
        </p:blipFill>
        <p:spPr>
          <a:xfrm rot="21600000">
            <a:off x="7363967" y="3069336"/>
            <a:ext cx="1780032" cy="2074163"/>
          </a:xfrm>
          <a:prstGeom prst="rect">
            <a:avLst/>
          </a:prstGeom>
        </p:spPr>
      </p:pic>
      <p:sp>
        <p:nvSpPr>
          <p:cNvPr id="2" name="Rectangle 1"/>
          <p:cNvSpPr/>
          <p:nvPr/>
        </p:nvSpPr>
        <p:spPr>
          <a:xfrm>
            <a:off x="1733650" y="776234"/>
            <a:ext cx="4237863" cy="369332"/>
          </a:xfrm>
          <a:prstGeom prst="rect">
            <a:avLst/>
          </a:prstGeom>
        </p:spPr>
        <p:txBody>
          <a:bodyPr wrap="square">
            <a:spAutoFit/>
          </a:bodyPr>
          <a:lstStyle/>
          <a:p>
            <a:r>
              <a:rPr lang="en-US" b="1"/>
              <a:t>Tạo một tệp HTML cơ bản</a:t>
            </a:r>
            <a:endParaRPr lang="en-US"/>
          </a:p>
        </p:txBody>
      </p:sp>
      <p:pic>
        <p:nvPicPr>
          <p:cNvPr id="3" name="Picture 2"/>
          <p:cNvPicPr>
            <a:picLocks noChangeAspect="1"/>
          </p:cNvPicPr>
          <p:nvPr/>
        </p:nvPicPr>
        <p:blipFill>
          <a:blip r:embed="rId5"/>
          <a:stretch>
            <a:fillRect/>
          </a:stretch>
        </p:blipFill>
        <p:spPr>
          <a:xfrm>
            <a:off x="836962" y="2654258"/>
            <a:ext cx="7943240" cy="1311352"/>
          </a:xfrm>
          <a:prstGeom prst="rect">
            <a:avLst/>
          </a:prstGeom>
        </p:spPr>
      </p:pic>
    </p:spTree>
    <p:extLst>
      <p:ext uri="{BB962C8B-B14F-4D97-AF65-F5344CB8AC3E}">
        <p14:creationId xmlns:p14="http://schemas.microsoft.com/office/powerpoint/2010/main" val="205256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sp>
        <p:nvSpPr>
          <p:cNvPr id="18" name="textbox 18"/>
          <p:cNvSpPr/>
          <p:nvPr/>
        </p:nvSpPr>
        <p:spPr>
          <a:xfrm>
            <a:off x="620045" y="1691215"/>
            <a:ext cx="8310812" cy="1645920"/>
          </a:xfrm>
          <a:prstGeom prst="rect">
            <a:avLst/>
          </a:prstGeom>
        </p:spPr>
        <p:txBody>
          <a:bodyPr vert="horz" wrap="square" lIns="0" tIns="0" rIns="0" bIns="0"/>
          <a:lstStyle/>
          <a:p>
            <a:pPr lvl="0"/>
            <a:r>
              <a:rPr lang="en-US" b="1"/>
              <a:t>&lt;html&gt;</a:t>
            </a:r>
            <a:r>
              <a:rPr lang="en-US"/>
              <a:t>: Thẻ gốc của tài liệu HTML.</a:t>
            </a:r>
          </a:p>
          <a:p>
            <a:pPr lvl="0"/>
            <a:r>
              <a:rPr lang="en-US" b="1"/>
              <a:t>&lt;head&gt;</a:t>
            </a:r>
            <a:r>
              <a:rPr lang="en-US"/>
              <a:t>: Khu vực chứa các thông tin về trang web, bao gồm tiêu đề.</a:t>
            </a:r>
          </a:p>
          <a:p>
            <a:pPr lvl="0"/>
            <a:r>
              <a:rPr lang="en-US" b="1"/>
              <a:t>&lt;title&gt;</a:t>
            </a:r>
            <a:r>
              <a:rPr lang="en-US"/>
              <a:t>: Định nghĩa tiêu đề của trang web xuất hiện trên thanh địa chỉ trình duyệt.</a:t>
            </a:r>
          </a:p>
          <a:p>
            <a:pPr lvl="0"/>
            <a:r>
              <a:rPr lang="en-US" b="1"/>
              <a:t>&lt;body&gt;</a:t>
            </a:r>
            <a:r>
              <a:rPr lang="en-US"/>
              <a:t>: Khu vực chứa nội dung hiển thị trên trang web.</a:t>
            </a:r>
          </a:p>
          <a:p>
            <a:pPr lvl="0"/>
            <a:r>
              <a:rPr lang="en-US" b="1"/>
              <a:t>&lt;h1&gt;</a:t>
            </a:r>
            <a:r>
              <a:rPr lang="en-US"/>
              <a:t>: Thẻ để định dạng tiêu đề cấp độ 1.</a:t>
            </a:r>
          </a:p>
          <a:p>
            <a:pPr lvl="0"/>
            <a:r>
              <a:rPr lang="en-US" b="1"/>
              <a:t>&lt;p&gt;</a:t>
            </a:r>
            <a:r>
              <a:rPr lang="en-US"/>
              <a:t>: Thẻ để định dạng đoạn văn bản.</a:t>
            </a:r>
          </a:p>
          <a:p>
            <a:pPr lvl="0"/>
            <a:r>
              <a:rPr lang="en-US" b="1"/>
              <a:t>&lt;img&gt;</a:t>
            </a:r>
            <a:r>
              <a:rPr lang="en-US"/>
              <a:t>: Thẻ để chèn hình ảnh vào trang web với thuộc tính </a:t>
            </a:r>
            <a:r>
              <a:rPr lang="en-US" b="1"/>
              <a:t>src</a:t>
            </a:r>
            <a:r>
              <a:rPr lang="en-US"/>
              <a:t> để chỉ định đường dẫn đến hình ảnh và </a:t>
            </a:r>
            <a:r>
              <a:rPr lang="en-US" b="1"/>
              <a:t>alt</a:t>
            </a:r>
            <a:r>
              <a:rPr lang="en-US"/>
              <a:t> để cung cấp mô tả khi hình không thể hiển thị.</a:t>
            </a:r>
          </a:p>
          <a:p>
            <a:r>
              <a:rPr lang="en-US" b="1"/>
              <a:t>&lt;a&gt;</a:t>
            </a:r>
            <a:r>
              <a:rPr lang="en-US"/>
              <a:t>: Thẻ để tạo siêu liên kết với thuộc tính </a:t>
            </a:r>
            <a:r>
              <a:rPr lang="en-US" b="1"/>
              <a:t>href</a:t>
            </a:r>
            <a:r>
              <a:rPr lang="en-US"/>
              <a:t> để chỉ định đường dẫn đến trang web được liên kết</a:t>
            </a:r>
          </a:p>
        </p:txBody>
      </p:sp>
      <p:pic>
        <p:nvPicPr>
          <p:cNvPr id="19" name="picture 19"/>
          <p:cNvPicPr>
            <a:picLocks noChangeAspect="1"/>
          </p:cNvPicPr>
          <p:nvPr/>
        </p:nvPicPr>
        <p:blipFill>
          <a:blip r:embed="rId3"/>
          <a:stretch>
            <a:fillRect/>
          </a:stretch>
        </p:blipFill>
        <p:spPr>
          <a:xfrm rot="21600000">
            <a:off x="-236840" y="-545649"/>
            <a:ext cx="1780032" cy="2075688"/>
          </a:xfrm>
          <a:prstGeom prst="rect">
            <a:avLst/>
          </a:prstGeom>
        </p:spPr>
      </p:pic>
      <p:pic>
        <p:nvPicPr>
          <p:cNvPr id="20" name="picture 20"/>
          <p:cNvPicPr>
            <a:picLocks noChangeAspect="1"/>
          </p:cNvPicPr>
          <p:nvPr/>
        </p:nvPicPr>
        <p:blipFill>
          <a:blip r:embed="rId4"/>
          <a:stretch>
            <a:fillRect/>
          </a:stretch>
        </p:blipFill>
        <p:spPr>
          <a:xfrm rot="21600000">
            <a:off x="8386279" y="4260574"/>
            <a:ext cx="757720" cy="882925"/>
          </a:xfrm>
          <a:prstGeom prst="rect">
            <a:avLst/>
          </a:prstGeom>
        </p:spPr>
      </p:pic>
      <p:sp>
        <p:nvSpPr>
          <p:cNvPr id="2" name="Rectangle 1"/>
          <p:cNvSpPr/>
          <p:nvPr/>
        </p:nvSpPr>
        <p:spPr>
          <a:xfrm>
            <a:off x="1417983" y="776234"/>
            <a:ext cx="7362219" cy="369332"/>
          </a:xfrm>
          <a:prstGeom prst="rect">
            <a:avLst/>
          </a:prstGeom>
        </p:spPr>
        <p:txBody>
          <a:bodyPr wrap="square">
            <a:spAutoFit/>
          </a:bodyPr>
          <a:lstStyle/>
          <a:p>
            <a:r>
              <a:rPr lang="en-US" b="1"/>
              <a:t>Tạo trang web với tiêu đề, đoạn văn bản, hình ảnh và siêu liên kết</a:t>
            </a:r>
            <a:endParaRPr lang="en-US"/>
          </a:p>
        </p:txBody>
      </p:sp>
    </p:spTree>
    <p:extLst>
      <p:ext uri="{BB962C8B-B14F-4D97-AF65-F5344CB8AC3E}">
        <p14:creationId xmlns:p14="http://schemas.microsoft.com/office/powerpoint/2010/main" val="271055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circle(in)">
                                      <p:cBhvr>
                                        <p:cTn id="12"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sp>
        <p:nvSpPr>
          <p:cNvPr id="18" name="textbox 18"/>
          <p:cNvSpPr/>
          <p:nvPr/>
        </p:nvSpPr>
        <p:spPr>
          <a:xfrm>
            <a:off x="833188" y="1066800"/>
            <a:ext cx="8310812" cy="1645920"/>
          </a:xfrm>
          <a:prstGeom prst="rect">
            <a:avLst/>
          </a:prstGeom>
        </p:spPr>
        <p:txBody>
          <a:bodyPr vert="horz" wrap="square" lIns="0" tIns="0" rIns="0" bIns="0"/>
          <a:lstStyle/>
          <a:p>
            <a:r>
              <a:rPr lang="en-US"/>
              <a:t>Dưới đây là một số phần tử HTML cơ bản và cú pháp liên quan:</a:t>
            </a:r>
          </a:p>
          <a:p>
            <a:pPr lvl="0"/>
            <a:r>
              <a:rPr lang="en-US" b="1"/>
              <a:t>&lt;tagname&gt;</a:t>
            </a:r>
            <a:r>
              <a:rPr lang="en-US"/>
              <a:t>: Mở một thẻ HTML.</a:t>
            </a:r>
          </a:p>
          <a:p>
            <a:pPr lvl="0"/>
            <a:r>
              <a:rPr lang="en-US" b="1"/>
              <a:t>&lt;/tagname&gt;</a:t>
            </a:r>
            <a:r>
              <a:rPr lang="en-US"/>
              <a:t>: Đóng một thẻ HTML.</a:t>
            </a:r>
          </a:p>
          <a:p>
            <a:pPr lvl="0"/>
            <a:r>
              <a:rPr lang="en-US" b="1"/>
              <a:t>&lt;!DOCTYPE html&gt;</a:t>
            </a:r>
            <a:r>
              <a:rPr lang="en-US"/>
              <a:t>: Khai báo kiểu tài liệu HTML.</a:t>
            </a:r>
          </a:p>
          <a:p>
            <a:pPr lvl="0"/>
            <a:r>
              <a:rPr lang="en-US" b="1"/>
              <a:t>&lt;html&gt;</a:t>
            </a:r>
            <a:r>
              <a:rPr lang="en-US"/>
              <a:t>: Thẻ gốc của tài liệu HTML.</a:t>
            </a:r>
          </a:p>
          <a:p>
            <a:pPr lvl="0"/>
            <a:r>
              <a:rPr lang="en-US" b="1"/>
              <a:t>&lt;head&gt;</a:t>
            </a:r>
            <a:r>
              <a:rPr lang="en-US"/>
              <a:t>: Khu vực chứa thông tin về tài liệu.</a:t>
            </a:r>
          </a:p>
          <a:p>
            <a:pPr lvl="0"/>
            <a:r>
              <a:rPr lang="en-US" b="1"/>
              <a:t>&lt;title&gt;</a:t>
            </a:r>
            <a:r>
              <a:rPr lang="en-US"/>
              <a:t>: Đặt tiêu đề của trang web.</a:t>
            </a:r>
          </a:p>
          <a:p>
            <a:pPr lvl="0"/>
            <a:r>
              <a:rPr lang="en-US" b="1"/>
              <a:t>&lt;body&gt;</a:t>
            </a:r>
            <a:r>
              <a:rPr lang="en-US"/>
              <a:t>: Khu vực chứa nội dung hiển thị trên trang web.</a:t>
            </a:r>
          </a:p>
          <a:p>
            <a:pPr lvl="0"/>
            <a:r>
              <a:rPr lang="en-US" b="1"/>
              <a:t>&lt;h1&gt;</a:t>
            </a:r>
            <a:r>
              <a:rPr lang="en-US"/>
              <a:t>, </a:t>
            </a:r>
            <a:r>
              <a:rPr lang="en-US" b="1"/>
              <a:t>&lt;h2&gt;</a:t>
            </a:r>
            <a:r>
              <a:rPr lang="en-US"/>
              <a:t>, </a:t>
            </a:r>
            <a:r>
              <a:rPr lang="en-US" b="1"/>
              <a:t>&lt;h3&gt;</a:t>
            </a:r>
            <a:r>
              <a:rPr lang="en-US"/>
              <a:t>, ...: Định dạng tiêu đề với cấp độ khác nhau.</a:t>
            </a:r>
          </a:p>
          <a:p>
            <a:pPr lvl="0"/>
            <a:r>
              <a:rPr lang="en-US" b="1"/>
              <a:t>&lt;p&gt;</a:t>
            </a:r>
            <a:r>
              <a:rPr lang="en-US"/>
              <a:t>: Để định dạng đoạn văn bản.</a:t>
            </a:r>
          </a:p>
          <a:p>
            <a:pPr lvl="0"/>
            <a:r>
              <a:rPr lang="en-US" b="1"/>
              <a:t>&lt;img&gt;</a:t>
            </a:r>
            <a:r>
              <a:rPr lang="en-US"/>
              <a:t>: Để chèn hình ảnh.</a:t>
            </a:r>
          </a:p>
          <a:p>
            <a:pPr lvl="0"/>
            <a:r>
              <a:rPr lang="en-US" b="1"/>
              <a:t>&lt;a&gt;</a:t>
            </a:r>
            <a:r>
              <a:rPr lang="en-US"/>
              <a:t>: Để tạo liên kết.</a:t>
            </a:r>
          </a:p>
        </p:txBody>
      </p:sp>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386279" y="4260574"/>
            <a:ext cx="757720" cy="882925"/>
          </a:xfrm>
          <a:prstGeom prst="rect">
            <a:avLst/>
          </a:prstGeom>
        </p:spPr>
      </p:pic>
      <p:sp>
        <p:nvSpPr>
          <p:cNvPr id="2" name="Rectangle 1"/>
          <p:cNvSpPr/>
          <p:nvPr/>
        </p:nvSpPr>
        <p:spPr>
          <a:xfrm>
            <a:off x="1590261" y="488906"/>
            <a:ext cx="7362219" cy="369332"/>
          </a:xfrm>
          <a:prstGeom prst="rect">
            <a:avLst/>
          </a:prstGeom>
        </p:spPr>
        <p:txBody>
          <a:bodyPr wrap="square">
            <a:spAutoFit/>
          </a:bodyPr>
          <a:lstStyle/>
          <a:p>
            <a:r>
              <a:rPr lang="en-US" b="1"/>
              <a:t>Hướng dẫn về cú pháp và các phần tử HTML cơ bản</a:t>
            </a:r>
            <a:endParaRPr lang="en-US"/>
          </a:p>
        </p:txBody>
      </p:sp>
    </p:spTree>
    <p:extLst>
      <p:ext uri="{BB962C8B-B14F-4D97-AF65-F5344CB8AC3E}">
        <p14:creationId xmlns:p14="http://schemas.microsoft.com/office/powerpoint/2010/main" val="2348858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sp>
        <p:nvSpPr>
          <p:cNvPr id="18" name="textbox 18"/>
          <p:cNvSpPr/>
          <p:nvPr/>
        </p:nvSpPr>
        <p:spPr>
          <a:xfrm>
            <a:off x="668172" y="1066800"/>
            <a:ext cx="8257167" cy="1645920"/>
          </a:xfrm>
          <a:prstGeom prst="rect">
            <a:avLst/>
          </a:prstGeom>
        </p:spPr>
        <p:txBody>
          <a:bodyPr vert="horz" wrap="square" lIns="0" tIns="0" rIns="0" bIns="0"/>
          <a:lstStyle/>
          <a:p>
            <a:r>
              <a:rPr lang="en-US"/>
              <a:t>Các phần tử HTML có thể chứa nhiều thuộc tính và cấu trúc lồng nhau để tạo ra trang web phức tạp hơn. HTML là một ngôn ngữ cơ bản để tạo nội dung trang web và là cơ sở cho CSS (Cascading Style Sheets) và JavaScript để tạo giao diện và chức năng phức tạp hơn.</a:t>
            </a:r>
          </a:p>
        </p:txBody>
      </p:sp>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386279" y="4260574"/>
            <a:ext cx="757720" cy="882925"/>
          </a:xfrm>
          <a:prstGeom prst="rect">
            <a:avLst/>
          </a:prstGeom>
        </p:spPr>
      </p:pic>
      <p:sp>
        <p:nvSpPr>
          <p:cNvPr id="3" name="Rectangle 2"/>
          <p:cNvSpPr/>
          <p:nvPr/>
        </p:nvSpPr>
        <p:spPr>
          <a:xfrm>
            <a:off x="615634" y="2238254"/>
            <a:ext cx="1794081" cy="388696"/>
          </a:xfrm>
          <a:prstGeom prst="rect">
            <a:avLst/>
          </a:prstGeom>
        </p:spPr>
        <p:txBody>
          <a:bodyPr wrap="none">
            <a:spAutoFit/>
          </a:bodyPr>
          <a:lstStyle/>
          <a:p>
            <a:pPr lvl="0">
              <a:lnSpc>
                <a:spcPct val="107000"/>
              </a:lnSpc>
              <a:spcAft>
                <a:spcPts val="800"/>
              </a:spcAft>
            </a:pPr>
            <a:r>
              <a:rPr lang="en-ID" b="1" kern="100" smtClean="0">
                <a:latin typeface="Times New Roman" panose="02020603050405020304" pitchFamily="18" charset="0"/>
                <a:ea typeface="Calibri" panose="020F0502020204030204" pitchFamily="34" charset="0"/>
                <a:cs typeface="Times New Roman" panose="02020603050405020304" pitchFamily="18" charset="0"/>
              </a:rPr>
              <a:t>2. Cơ </a:t>
            </a:r>
            <a:r>
              <a:rPr lang="en-ID" b="1" kern="100">
                <a:latin typeface="Times New Roman" panose="02020603050405020304" pitchFamily="18" charset="0"/>
                <a:ea typeface="Calibri" panose="020F0502020204030204" pitchFamily="34" charset="0"/>
                <a:cs typeface="Times New Roman" panose="02020603050405020304" pitchFamily="18" charset="0"/>
              </a:rPr>
              <a:t>bản CSS   </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692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386279" y="4260574"/>
            <a:ext cx="757720" cy="882925"/>
          </a:xfrm>
          <a:prstGeom prst="rect">
            <a:avLst/>
          </a:prstGeom>
        </p:spPr>
      </p:pic>
      <p:sp>
        <p:nvSpPr>
          <p:cNvPr id="3" name="Rectangle 2"/>
          <p:cNvSpPr/>
          <p:nvPr/>
        </p:nvSpPr>
        <p:spPr>
          <a:xfrm>
            <a:off x="811252" y="817424"/>
            <a:ext cx="6715984" cy="1754326"/>
          </a:xfrm>
          <a:prstGeom prst="rect">
            <a:avLst/>
          </a:prstGeom>
        </p:spPr>
        <p:txBody>
          <a:bodyPr wrap="square">
            <a:spAutoFit/>
          </a:bodyPr>
          <a:lstStyle/>
          <a:p>
            <a:pPr lvl="0"/>
            <a:r>
              <a:rPr lang="en-US" b="1" smtClean="0"/>
              <a:t>3. Nội </a:t>
            </a:r>
            <a:r>
              <a:rPr lang="en-US" b="1"/>
              <a:t>dung CSS</a:t>
            </a:r>
            <a:r>
              <a:rPr lang="en-US"/>
              <a:t>: </a:t>
            </a:r>
            <a:endParaRPr lang="en-US" smtClean="0"/>
          </a:p>
          <a:p>
            <a:pPr lvl="0"/>
            <a:r>
              <a:rPr lang="en-US" smtClean="0"/>
              <a:t>Để bắt đầu, bạn cần tạo một phần nội dung CSS. Điều này có thể được thực hiện bằng cách sử dụng một tệp riêng biệt với phần mở rộng </a:t>
            </a:r>
            <a:r>
              <a:rPr lang="en-US" b="1" smtClean="0"/>
              <a:t>.css</a:t>
            </a:r>
            <a:r>
              <a:rPr lang="en-US" smtClean="0"/>
              <a:t> hoặc bằng cách nhúng CSS trực tiếp trong tệp HTML bằng thẻ </a:t>
            </a:r>
            <a:r>
              <a:rPr lang="en-US" b="1" smtClean="0"/>
              <a:t>&lt;style&gt;</a:t>
            </a:r>
            <a:r>
              <a:rPr lang="en-US" smtClean="0"/>
              <a:t>.</a:t>
            </a:r>
          </a:p>
          <a:p>
            <a:r>
              <a:rPr lang="en-US" smtClean="0"/>
              <a:t>Ví </a:t>
            </a:r>
            <a:r>
              <a:rPr lang="en-US"/>
              <a:t>dụ về tạo một tệp CSS riêng biệt (</a:t>
            </a:r>
            <a:r>
              <a:rPr lang="en-US" b="1"/>
              <a:t>styles.css</a:t>
            </a:r>
            <a:r>
              <a:rPr lang="en-US"/>
              <a:t>):</a:t>
            </a:r>
          </a:p>
        </p:txBody>
      </p:sp>
      <p:pic>
        <p:nvPicPr>
          <p:cNvPr id="4" name="Picture 3"/>
          <p:cNvPicPr>
            <a:picLocks noChangeAspect="1"/>
          </p:cNvPicPr>
          <p:nvPr/>
        </p:nvPicPr>
        <p:blipFill>
          <a:blip r:embed="rId5"/>
          <a:stretch>
            <a:fillRect/>
          </a:stretch>
        </p:blipFill>
        <p:spPr>
          <a:xfrm>
            <a:off x="894753" y="2602196"/>
            <a:ext cx="6820650" cy="406930"/>
          </a:xfrm>
          <a:prstGeom prst="rect">
            <a:avLst/>
          </a:prstGeom>
        </p:spPr>
      </p:pic>
      <p:sp>
        <p:nvSpPr>
          <p:cNvPr id="11" name="Rectangle 10"/>
          <p:cNvSpPr/>
          <p:nvPr/>
        </p:nvSpPr>
        <p:spPr>
          <a:xfrm>
            <a:off x="811252" y="3081248"/>
            <a:ext cx="6987653" cy="923330"/>
          </a:xfrm>
          <a:prstGeom prst="rect">
            <a:avLst/>
          </a:prstGeom>
        </p:spPr>
        <p:txBody>
          <a:bodyPr wrap="square">
            <a:spAutoFit/>
          </a:bodyPr>
          <a:lstStyle/>
          <a:p>
            <a:pPr lvl="0"/>
            <a:r>
              <a:rPr lang="en-US" b="1" smtClean="0"/>
              <a:t>4. Liên </a:t>
            </a:r>
            <a:r>
              <a:rPr lang="en-US" b="1"/>
              <a:t>kết CSS</a:t>
            </a:r>
            <a:r>
              <a:rPr lang="en-US"/>
              <a:t>: Nếu bạn sử dụng một tệp CSS riêng biệt, hãy liên kết nó với trang HTML bằng thẻ </a:t>
            </a:r>
            <a:r>
              <a:rPr lang="en-US" b="1"/>
              <a:t>&lt;link&gt;</a:t>
            </a:r>
            <a:r>
              <a:rPr lang="en-US"/>
              <a:t> trong phần </a:t>
            </a:r>
            <a:r>
              <a:rPr lang="en-US" b="1"/>
              <a:t>&lt;head&gt;</a:t>
            </a:r>
            <a:r>
              <a:rPr lang="en-US"/>
              <a:t> của trang HTML.</a:t>
            </a:r>
          </a:p>
        </p:txBody>
      </p:sp>
      <p:pic>
        <p:nvPicPr>
          <p:cNvPr id="6" name="Picture 5"/>
          <p:cNvPicPr>
            <a:picLocks noChangeAspect="1"/>
          </p:cNvPicPr>
          <p:nvPr/>
        </p:nvPicPr>
        <p:blipFill>
          <a:blip r:embed="rId6"/>
          <a:stretch>
            <a:fillRect/>
          </a:stretch>
        </p:blipFill>
        <p:spPr>
          <a:xfrm>
            <a:off x="894753" y="4076700"/>
            <a:ext cx="6820650" cy="600938"/>
          </a:xfrm>
          <a:prstGeom prst="rect">
            <a:avLst/>
          </a:prstGeom>
        </p:spPr>
      </p:pic>
    </p:spTree>
    <p:extLst>
      <p:ext uri="{BB962C8B-B14F-4D97-AF65-F5344CB8AC3E}">
        <p14:creationId xmlns:p14="http://schemas.microsoft.com/office/powerpoint/2010/main" val="341408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randombar(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1"/>
            <a:ext cx="9144000" cy="5143500"/>
          </a:xfrm>
          <a:prstGeom prst="rect">
            <a:avLst/>
          </a:prstGeom>
        </p:spPr>
      </p:pic>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386279" y="4260574"/>
            <a:ext cx="757720" cy="882925"/>
          </a:xfrm>
          <a:prstGeom prst="rect">
            <a:avLst/>
          </a:prstGeom>
        </p:spPr>
      </p:pic>
      <p:sp>
        <p:nvSpPr>
          <p:cNvPr id="3" name="Rectangle 2"/>
          <p:cNvSpPr/>
          <p:nvPr/>
        </p:nvSpPr>
        <p:spPr>
          <a:xfrm>
            <a:off x="844382" y="1280739"/>
            <a:ext cx="7835791" cy="2585323"/>
          </a:xfrm>
          <a:prstGeom prst="rect">
            <a:avLst/>
          </a:prstGeom>
        </p:spPr>
        <p:txBody>
          <a:bodyPr wrap="square">
            <a:spAutoFit/>
          </a:bodyPr>
          <a:lstStyle/>
          <a:p>
            <a:pPr lvl="0"/>
            <a:r>
              <a:rPr lang="en-US" b="1" smtClean="0"/>
              <a:t>5. Áp </a:t>
            </a:r>
            <a:r>
              <a:rPr lang="en-US" b="1"/>
              <a:t>dụng kiểu cho phần tử HTML</a:t>
            </a:r>
            <a:r>
              <a:rPr lang="en-US"/>
              <a:t>: Sử dụng các lựa chọn CSS để áp dụng kiểu cho các phần tử HTML. Có ba cách phổ biến để thực hiện điều này:</a:t>
            </a:r>
            <a:endParaRPr lang="en-US" sz="1600"/>
          </a:p>
          <a:p>
            <a:pPr lvl="1"/>
            <a:r>
              <a:rPr lang="en-US" smtClean="0"/>
              <a:t>a) Sử </a:t>
            </a:r>
            <a:r>
              <a:rPr lang="en-US"/>
              <a:t>dụng tên thẻ HTML: Đặt thuộc tính CSS trực tiếp trên tên thẻ HTML.</a:t>
            </a:r>
            <a:endParaRPr lang="en-US" sz="1600"/>
          </a:p>
          <a:p>
            <a:pPr lvl="1"/>
            <a:r>
              <a:rPr lang="en-US" smtClean="0"/>
              <a:t>b) Sử </a:t>
            </a:r>
            <a:r>
              <a:rPr lang="en-US"/>
              <a:t>dụng lớp (class): Đặt thuộc tính CSS trên các lớp và sau đó gán lớp cho các phần tử HTML.</a:t>
            </a:r>
            <a:endParaRPr lang="en-US" sz="1600"/>
          </a:p>
          <a:p>
            <a:pPr lvl="1"/>
            <a:r>
              <a:rPr lang="en-US" smtClean="0"/>
              <a:t>c) Sử </a:t>
            </a:r>
            <a:r>
              <a:rPr lang="en-US"/>
              <a:t>dụng ID: Tương tự như lớp, nhưng sử dụng ID để chỉ định duy nhất một phần </a:t>
            </a:r>
            <a:r>
              <a:rPr lang="en-US" smtClean="0"/>
              <a:t>tử.</a:t>
            </a:r>
            <a:endParaRPr lang="en-US" sz="1600"/>
          </a:p>
        </p:txBody>
      </p:sp>
    </p:spTree>
    <p:extLst>
      <p:ext uri="{BB962C8B-B14F-4D97-AF65-F5344CB8AC3E}">
        <p14:creationId xmlns:p14="http://schemas.microsoft.com/office/powerpoint/2010/main" val="373821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1" y="-1"/>
            <a:ext cx="9144000" cy="5143500"/>
          </a:xfrm>
          <a:prstGeom prst="rect">
            <a:avLst/>
          </a:prstGeom>
        </p:spPr>
      </p:pic>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386279" y="4260574"/>
            <a:ext cx="757720" cy="882925"/>
          </a:xfrm>
          <a:prstGeom prst="rect">
            <a:avLst/>
          </a:prstGeom>
        </p:spPr>
      </p:pic>
      <p:sp>
        <p:nvSpPr>
          <p:cNvPr id="3" name="Rectangle 2"/>
          <p:cNvSpPr/>
          <p:nvPr/>
        </p:nvSpPr>
        <p:spPr>
          <a:xfrm>
            <a:off x="1145937" y="720429"/>
            <a:ext cx="5920853" cy="369332"/>
          </a:xfrm>
          <a:prstGeom prst="rect">
            <a:avLst/>
          </a:prstGeom>
        </p:spPr>
        <p:txBody>
          <a:bodyPr wrap="square">
            <a:spAutoFit/>
          </a:bodyPr>
          <a:lstStyle/>
          <a:p>
            <a:r>
              <a:rPr lang="en-US" b="1"/>
              <a:t>Ví dụ thực hành với các thuộc tính CSS cơ bản</a:t>
            </a:r>
            <a:endParaRPr lang="en-US"/>
          </a:p>
        </p:txBody>
      </p:sp>
      <p:sp>
        <p:nvSpPr>
          <p:cNvPr id="4" name="Rectangle 3"/>
          <p:cNvSpPr/>
          <p:nvPr/>
        </p:nvSpPr>
        <p:spPr>
          <a:xfrm>
            <a:off x="1145937" y="1066800"/>
            <a:ext cx="7240341" cy="369332"/>
          </a:xfrm>
          <a:prstGeom prst="rect">
            <a:avLst/>
          </a:prstGeom>
        </p:spPr>
        <p:txBody>
          <a:bodyPr wrap="square">
            <a:spAutoFit/>
          </a:bodyPr>
          <a:lstStyle/>
          <a:p>
            <a:r>
              <a:rPr lang="en-US"/>
              <a:t>Dưới đây là một ví dụ về cách áp dụng các thuộc tính CSS cơ bản:</a:t>
            </a:r>
            <a:endParaRPr lang="en-US" sz="1600"/>
          </a:p>
        </p:txBody>
      </p:sp>
      <p:pic>
        <p:nvPicPr>
          <p:cNvPr id="5" name="Picture 4"/>
          <p:cNvPicPr>
            <a:picLocks noChangeAspect="1"/>
          </p:cNvPicPr>
          <p:nvPr/>
        </p:nvPicPr>
        <p:blipFill>
          <a:blip r:embed="rId5"/>
          <a:stretch>
            <a:fillRect/>
          </a:stretch>
        </p:blipFill>
        <p:spPr>
          <a:xfrm>
            <a:off x="1241821" y="1451067"/>
            <a:ext cx="6818692" cy="1061426"/>
          </a:xfrm>
          <a:prstGeom prst="rect">
            <a:avLst/>
          </a:prstGeom>
        </p:spPr>
      </p:pic>
      <p:sp>
        <p:nvSpPr>
          <p:cNvPr id="12" name="Rectangle 11"/>
          <p:cNvSpPr/>
          <p:nvPr/>
        </p:nvSpPr>
        <p:spPr>
          <a:xfrm>
            <a:off x="1241821" y="2633472"/>
            <a:ext cx="6951203" cy="1200329"/>
          </a:xfrm>
          <a:prstGeom prst="rect">
            <a:avLst/>
          </a:prstGeom>
        </p:spPr>
        <p:txBody>
          <a:bodyPr wrap="square">
            <a:spAutoFit/>
          </a:bodyPr>
          <a:lstStyle/>
          <a:p>
            <a:r>
              <a:rPr lang="en-US"/>
              <a:t>Trong ví dụ này, chúng ta đã sử dụng các thuộc tính CSS khác nhau để kiểm soát font chữ, màu sắc và kích thước của các phần tử. Các phần tử có lớp </a:t>
            </a:r>
            <a:r>
              <a:rPr lang="en-US" b="1"/>
              <a:t>highlight</a:t>
            </a:r>
            <a:r>
              <a:rPr lang="en-US"/>
              <a:t> hoặc ID </a:t>
            </a:r>
            <a:r>
              <a:rPr lang="en-US" b="1"/>
              <a:t>box</a:t>
            </a:r>
            <a:r>
              <a:rPr lang="en-US"/>
              <a:t> được tô sáng nền hoặc có kích thước và màu sắc cụ thể.</a:t>
            </a:r>
          </a:p>
        </p:txBody>
      </p:sp>
    </p:spTree>
    <p:extLst>
      <p:ext uri="{BB962C8B-B14F-4D97-AF65-F5344CB8AC3E}">
        <p14:creationId xmlns:p14="http://schemas.microsoft.com/office/powerpoint/2010/main" val="1471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1" y="0"/>
            <a:ext cx="9144000" cy="5143500"/>
          </a:xfrm>
          <a:prstGeom prst="rect">
            <a:avLst/>
          </a:prstGeom>
        </p:spPr>
      </p:pic>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386279" y="4260574"/>
            <a:ext cx="757720" cy="882925"/>
          </a:xfrm>
          <a:prstGeom prst="rect">
            <a:avLst/>
          </a:prstGeom>
        </p:spPr>
      </p:pic>
      <p:sp>
        <p:nvSpPr>
          <p:cNvPr id="3" name="Rectangle 2"/>
          <p:cNvSpPr/>
          <p:nvPr/>
        </p:nvSpPr>
        <p:spPr>
          <a:xfrm>
            <a:off x="1145937" y="882134"/>
            <a:ext cx="5920853" cy="369332"/>
          </a:xfrm>
          <a:prstGeom prst="rect">
            <a:avLst/>
          </a:prstGeom>
        </p:spPr>
        <p:txBody>
          <a:bodyPr wrap="square">
            <a:spAutoFit/>
          </a:bodyPr>
          <a:lstStyle/>
          <a:p>
            <a:r>
              <a:rPr lang="en-ID" b="1"/>
              <a:t>3. JavaScrip Cơ bản: </a:t>
            </a:r>
            <a:endParaRPr lang="en-US"/>
          </a:p>
        </p:txBody>
      </p:sp>
      <p:sp>
        <p:nvSpPr>
          <p:cNvPr id="4" name="Rectangle 3"/>
          <p:cNvSpPr/>
          <p:nvPr/>
        </p:nvSpPr>
        <p:spPr>
          <a:xfrm>
            <a:off x="1145937" y="1273563"/>
            <a:ext cx="7240341" cy="369332"/>
          </a:xfrm>
          <a:prstGeom prst="rect">
            <a:avLst/>
          </a:prstGeom>
        </p:spPr>
        <p:txBody>
          <a:bodyPr wrap="square">
            <a:spAutoFit/>
          </a:bodyPr>
          <a:lstStyle/>
          <a:p>
            <a:r>
              <a:rPr lang="en-US" b="1"/>
              <a:t>Cú </a:t>
            </a:r>
            <a:r>
              <a:rPr lang="en-US" b="1" smtClean="0"/>
              <a:t>pháp </a:t>
            </a:r>
            <a:r>
              <a:rPr lang="en-US" b="1"/>
              <a:t>JavaScript cơ bản</a:t>
            </a:r>
          </a:p>
        </p:txBody>
      </p:sp>
      <p:sp>
        <p:nvSpPr>
          <p:cNvPr id="7" name="Rectangle 6"/>
          <p:cNvSpPr/>
          <p:nvPr/>
        </p:nvSpPr>
        <p:spPr>
          <a:xfrm>
            <a:off x="1145937" y="1664992"/>
            <a:ext cx="1207119" cy="369332"/>
          </a:xfrm>
          <a:prstGeom prst="rect">
            <a:avLst/>
          </a:prstGeom>
        </p:spPr>
        <p:txBody>
          <a:bodyPr wrap="square">
            <a:spAutoFit/>
          </a:bodyPr>
          <a:lstStyle/>
          <a:p>
            <a:r>
              <a:rPr lang="en-US" i="1" smtClean="0">
                <a:solidFill>
                  <a:schemeClr val="bg1"/>
                </a:solidFill>
              </a:rPr>
              <a:t>Tạo</a:t>
            </a:r>
            <a:r>
              <a:rPr lang="en-US" smtClean="0">
                <a:solidFill>
                  <a:schemeClr val="bg1"/>
                </a:solidFill>
              </a:rPr>
              <a:t> </a:t>
            </a:r>
            <a:r>
              <a:rPr lang="en-US" i="1" smtClean="0">
                <a:solidFill>
                  <a:schemeClr val="bg1"/>
                </a:solidFill>
              </a:rPr>
              <a:t>biến</a:t>
            </a:r>
            <a:endParaRPr lang="en-US" i="1">
              <a:solidFill>
                <a:schemeClr val="bg1"/>
              </a:solidFill>
            </a:endParaRPr>
          </a:p>
        </p:txBody>
      </p:sp>
      <p:sp>
        <p:nvSpPr>
          <p:cNvPr id="12" name="Rectangle 11"/>
          <p:cNvSpPr/>
          <p:nvPr/>
        </p:nvSpPr>
        <p:spPr>
          <a:xfrm>
            <a:off x="1145937" y="2074664"/>
            <a:ext cx="7681071" cy="646331"/>
          </a:xfrm>
          <a:prstGeom prst="rect">
            <a:avLst/>
          </a:prstGeom>
        </p:spPr>
        <p:txBody>
          <a:bodyPr wrap="square">
            <a:spAutoFit/>
          </a:bodyPr>
          <a:lstStyle/>
          <a:p>
            <a:r>
              <a:rPr lang="en-US" smtClean="0"/>
              <a:t>Bạn có thể tạo biến trong JaveScript bằng từ khóa </a:t>
            </a:r>
            <a:r>
              <a:rPr lang="en-US" b="1" smtClean="0"/>
              <a:t>var, let, </a:t>
            </a:r>
            <a:r>
              <a:rPr lang="en-US" smtClean="0"/>
              <a:t>hoặc </a:t>
            </a:r>
            <a:r>
              <a:rPr lang="en-US" b="1" smtClean="0"/>
              <a:t>const. </a:t>
            </a:r>
            <a:r>
              <a:rPr lang="en-US" smtClean="0"/>
              <a:t>Đây là một ví dụ:</a:t>
            </a:r>
            <a:endParaRPr lang="en-US"/>
          </a:p>
        </p:txBody>
      </p:sp>
      <p:pic>
        <p:nvPicPr>
          <p:cNvPr id="8" name="Picture 7"/>
          <p:cNvPicPr>
            <a:picLocks noChangeAspect="1"/>
          </p:cNvPicPr>
          <p:nvPr/>
        </p:nvPicPr>
        <p:blipFill>
          <a:blip r:embed="rId5"/>
          <a:stretch>
            <a:fillRect/>
          </a:stretch>
        </p:blipFill>
        <p:spPr>
          <a:xfrm>
            <a:off x="1261483" y="2761335"/>
            <a:ext cx="6459677" cy="719573"/>
          </a:xfrm>
          <a:prstGeom prst="rect">
            <a:avLst/>
          </a:prstGeom>
        </p:spPr>
      </p:pic>
    </p:spTree>
    <p:extLst>
      <p:ext uri="{BB962C8B-B14F-4D97-AF65-F5344CB8AC3E}">
        <p14:creationId xmlns:p14="http://schemas.microsoft.com/office/powerpoint/2010/main" val="331214189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630797" y="4545496"/>
            <a:ext cx="513202" cy="598003"/>
          </a:xfrm>
          <a:prstGeom prst="rect">
            <a:avLst/>
          </a:prstGeom>
        </p:spPr>
      </p:pic>
      <p:sp>
        <p:nvSpPr>
          <p:cNvPr id="7" name="Rectangle 6"/>
          <p:cNvSpPr/>
          <p:nvPr/>
        </p:nvSpPr>
        <p:spPr>
          <a:xfrm>
            <a:off x="1084065" y="286431"/>
            <a:ext cx="1207119" cy="369332"/>
          </a:xfrm>
          <a:prstGeom prst="rect">
            <a:avLst/>
          </a:prstGeom>
        </p:spPr>
        <p:txBody>
          <a:bodyPr wrap="square">
            <a:spAutoFit/>
          </a:bodyPr>
          <a:lstStyle/>
          <a:p>
            <a:r>
              <a:rPr lang="en-US" i="1" smtClean="0">
                <a:solidFill>
                  <a:schemeClr val="bg1"/>
                </a:solidFill>
              </a:rPr>
              <a:t>Tạo</a:t>
            </a:r>
            <a:r>
              <a:rPr lang="en-US" smtClean="0">
                <a:solidFill>
                  <a:schemeClr val="bg1"/>
                </a:solidFill>
              </a:rPr>
              <a:t> </a:t>
            </a:r>
            <a:r>
              <a:rPr lang="en-US" i="1" smtClean="0">
                <a:solidFill>
                  <a:schemeClr val="bg1"/>
                </a:solidFill>
              </a:rPr>
              <a:t>hàm</a:t>
            </a:r>
            <a:endParaRPr lang="en-US" i="1">
              <a:solidFill>
                <a:schemeClr val="bg1"/>
              </a:solidFill>
            </a:endParaRPr>
          </a:p>
        </p:txBody>
      </p:sp>
      <p:sp>
        <p:nvSpPr>
          <p:cNvPr id="12" name="Rectangle 11"/>
          <p:cNvSpPr/>
          <p:nvPr/>
        </p:nvSpPr>
        <p:spPr>
          <a:xfrm>
            <a:off x="1084066" y="624121"/>
            <a:ext cx="7681071" cy="646331"/>
          </a:xfrm>
          <a:prstGeom prst="rect">
            <a:avLst/>
          </a:prstGeom>
        </p:spPr>
        <p:txBody>
          <a:bodyPr wrap="square">
            <a:spAutoFit/>
          </a:bodyPr>
          <a:lstStyle/>
          <a:p>
            <a:r>
              <a:rPr lang="en-US" smtClean="0"/>
              <a:t>Hàm trong JavaScript được định nghĩa bằng từ khóa </a:t>
            </a:r>
            <a:r>
              <a:rPr lang="en-US" b="1" smtClean="0"/>
              <a:t>function.</a:t>
            </a:r>
            <a:r>
              <a:rPr lang="en-US" smtClean="0"/>
              <a:t> Dưới đây là một ví dụ về cách tạo hàm:</a:t>
            </a:r>
            <a:endParaRPr lang="en-US"/>
          </a:p>
        </p:txBody>
      </p:sp>
      <p:pic>
        <p:nvPicPr>
          <p:cNvPr id="9" name="Picture 8"/>
          <p:cNvPicPr>
            <a:picLocks noChangeAspect="1"/>
          </p:cNvPicPr>
          <p:nvPr/>
        </p:nvPicPr>
        <p:blipFill>
          <a:blip r:embed="rId5"/>
          <a:stretch>
            <a:fillRect/>
          </a:stretch>
        </p:blipFill>
        <p:spPr>
          <a:xfrm>
            <a:off x="1084065" y="1278977"/>
            <a:ext cx="7568542" cy="609653"/>
          </a:xfrm>
          <a:prstGeom prst="rect">
            <a:avLst/>
          </a:prstGeom>
        </p:spPr>
      </p:pic>
      <p:sp>
        <p:nvSpPr>
          <p:cNvPr id="10" name="Rectangle 9"/>
          <p:cNvSpPr/>
          <p:nvPr/>
        </p:nvSpPr>
        <p:spPr>
          <a:xfrm>
            <a:off x="1084065" y="1920276"/>
            <a:ext cx="1749197" cy="388696"/>
          </a:xfrm>
          <a:prstGeom prst="rect">
            <a:avLst/>
          </a:prstGeom>
        </p:spPr>
        <p:txBody>
          <a:bodyPr wrap="none">
            <a:spAutoFit/>
          </a:bodyPr>
          <a:lstStyle/>
          <a:p>
            <a:pPr>
              <a:lnSpc>
                <a:spcPct val="107000"/>
              </a:lnSpc>
              <a:spcBef>
                <a:spcPts val="200"/>
              </a:spcBef>
              <a:spcAft>
                <a:spcPts val="0"/>
              </a:spcAft>
            </a:pPr>
            <a:r>
              <a:rPr lang="en-ID" b="1" i="1" kern="10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Sử dụng sự kiện</a:t>
            </a:r>
            <a:endParaRPr lang="en-US" b="1" i="1" kern="100">
              <a:solidFill>
                <a:schemeClr val="bg1"/>
              </a:solidFill>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21" name="Rectangle 20"/>
          <p:cNvSpPr/>
          <p:nvPr/>
        </p:nvSpPr>
        <p:spPr>
          <a:xfrm>
            <a:off x="1084066" y="2245909"/>
            <a:ext cx="7681071" cy="1200329"/>
          </a:xfrm>
          <a:prstGeom prst="rect">
            <a:avLst/>
          </a:prstGeom>
        </p:spPr>
        <p:txBody>
          <a:bodyPr wrap="square">
            <a:spAutoFit/>
          </a:bodyPr>
          <a:lstStyle/>
          <a:p>
            <a:r>
              <a:rPr lang="en-US" smtClean="0"/>
              <a:t>Sự kiện là các hoạt động người dùng trên trang web, chẳng hạn như nhấn nút, kéo chuột, hoặc gõ phím. Bạn có thể gán các hàm xử lý sự kiện cho các phần từ HTML để thực hiện các hành động khi sự kiện xảy ra. Dưới đây là một ví dụ về cách sử dụng sự kiện </a:t>
            </a:r>
            <a:r>
              <a:rPr lang="en-US" b="1" smtClean="0"/>
              <a:t>click.</a:t>
            </a:r>
            <a:endParaRPr lang="en-US"/>
          </a:p>
        </p:txBody>
      </p:sp>
      <p:pic>
        <p:nvPicPr>
          <p:cNvPr id="22" name="Picture 21"/>
          <p:cNvPicPr>
            <a:picLocks noChangeAspect="1"/>
          </p:cNvPicPr>
          <p:nvPr/>
        </p:nvPicPr>
        <p:blipFill>
          <a:blip r:embed="rId6"/>
          <a:stretch>
            <a:fillRect/>
          </a:stretch>
        </p:blipFill>
        <p:spPr>
          <a:xfrm>
            <a:off x="1084065" y="3474854"/>
            <a:ext cx="7607297" cy="1231524"/>
          </a:xfrm>
          <a:prstGeom prst="rect">
            <a:avLst/>
          </a:prstGeom>
        </p:spPr>
      </p:pic>
    </p:spTree>
    <p:extLst>
      <p:ext uri="{BB962C8B-B14F-4D97-AF65-F5344CB8AC3E}">
        <p14:creationId xmlns:p14="http://schemas.microsoft.com/office/powerpoint/2010/main" val="2613651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1" y="-1"/>
            <a:ext cx="9144000" cy="5143500"/>
          </a:xfrm>
          <a:prstGeom prst="rect">
            <a:avLst/>
          </a:prstGeom>
        </p:spPr>
      </p:pic>
      <p:pic>
        <p:nvPicPr>
          <p:cNvPr id="19" name="picture 19"/>
          <p:cNvPicPr>
            <a:picLocks noChangeAspect="1"/>
          </p:cNvPicPr>
          <p:nvPr/>
        </p:nvPicPr>
        <p:blipFill>
          <a:blip r:embed="rId3"/>
          <a:stretch>
            <a:fillRect/>
          </a:stretch>
        </p:blipFill>
        <p:spPr>
          <a:xfrm rot="21600000">
            <a:off x="-236840" y="-545649"/>
            <a:ext cx="1382776" cy="1612449"/>
          </a:xfrm>
          <a:prstGeom prst="rect">
            <a:avLst/>
          </a:prstGeom>
        </p:spPr>
      </p:pic>
      <p:pic>
        <p:nvPicPr>
          <p:cNvPr id="20" name="picture 20"/>
          <p:cNvPicPr>
            <a:picLocks noChangeAspect="1"/>
          </p:cNvPicPr>
          <p:nvPr/>
        </p:nvPicPr>
        <p:blipFill>
          <a:blip r:embed="rId4"/>
          <a:stretch>
            <a:fillRect/>
          </a:stretch>
        </p:blipFill>
        <p:spPr>
          <a:xfrm rot="21600000">
            <a:off x="8630797" y="4545496"/>
            <a:ext cx="513202" cy="598003"/>
          </a:xfrm>
          <a:prstGeom prst="rect">
            <a:avLst/>
          </a:prstGeom>
        </p:spPr>
      </p:pic>
      <p:sp>
        <p:nvSpPr>
          <p:cNvPr id="10" name="Rectangle 9"/>
          <p:cNvSpPr/>
          <p:nvPr/>
        </p:nvSpPr>
        <p:spPr>
          <a:xfrm>
            <a:off x="1084065" y="1920276"/>
            <a:ext cx="1749197" cy="388696"/>
          </a:xfrm>
          <a:prstGeom prst="rect">
            <a:avLst/>
          </a:prstGeom>
        </p:spPr>
        <p:txBody>
          <a:bodyPr wrap="none">
            <a:spAutoFit/>
          </a:bodyPr>
          <a:lstStyle/>
          <a:p>
            <a:pPr>
              <a:lnSpc>
                <a:spcPct val="107000"/>
              </a:lnSpc>
              <a:spcBef>
                <a:spcPts val="200"/>
              </a:spcBef>
              <a:spcAft>
                <a:spcPts val="0"/>
              </a:spcAft>
            </a:pPr>
            <a:r>
              <a:rPr lang="en-ID" b="1" i="1" kern="10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Sử dụng sự kiện</a:t>
            </a:r>
            <a:endParaRPr lang="en-US" b="1" i="1" kern="100">
              <a:solidFill>
                <a:schemeClr val="bg1"/>
              </a:solidFill>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2" name="Rectangle 1"/>
          <p:cNvSpPr/>
          <p:nvPr/>
        </p:nvSpPr>
        <p:spPr>
          <a:xfrm>
            <a:off x="1084065" y="240254"/>
            <a:ext cx="4586512" cy="369332"/>
          </a:xfrm>
          <a:prstGeom prst="rect">
            <a:avLst/>
          </a:prstGeom>
        </p:spPr>
        <p:txBody>
          <a:bodyPr wrap="none">
            <a:spAutoFit/>
          </a:bodyPr>
          <a:lstStyle/>
          <a:p>
            <a:r>
              <a:rPr lang="en-US" b="1">
                <a:latin typeface="Times New Roman" panose="02020603050405020304" pitchFamily="18" charset="0"/>
                <a:ea typeface="Times New Roman" panose="02020603050405020304" pitchFamily="18" charset="0"/>
              </a:rPr>
              <a:t>Ví dụ: Hiển thị thông báo khi nút được nhấn</a:t>
            </a:r>
            <a:endParaRPr lang="en-US" sz="1600" b="1">
              <a:effectLst/>
              <a:latin typeface="Times New Roman" panose="02020603050405020304" pitchFamily="18" charset="0"/>
              <a:ea typeface="Times New Roman" panose="02020603050405020304" pitchFamily="18" charset="0"/>
            </a:endParaRPr>
          </a:p>
        </p:txBody>
      </p:sp>
      <p:sp>
        <p:nvSpPr>
          <p:cNvPr id="3" name="Rectangle 2"/>
          <p:cNvSpPr/>
          <p:nvPr/>
        </p:nvSpPr>
        <p:spPr>
          <a:xfrm>
            <a:off x="1163653" y="2765630"/>
            <a:ext cx="7693263" cy="923330"/>
          </a:xfrm>
          <a:prstGeom prst="rect">
            <a:avLst/>
          </a:prstGeom>
        </p:spPr>
        <p:txBody>
          <a:bodyPr wrap="square">
            <a:spAutoFit/>
          </a:bodyPr>
          <a:lstStyle/>
          <a:p>
            <a:r>
              <a:rPr lang="en-ID">
                <a:latin typeface="Calibri" panose="020F0502020204030204" pitchFamily="34" charset="0"/>
                <a:ea typeface="Calibri" panose="020F0502020204030204" pitchFamily="34" charset="0"/>
                <a:cs typeface="Times New Roman" panose="02020603050405020304" pitchFamily="18" charset="0"/>
              </a:rPr>
              <a:t>Trong ví dụ này</a:t>
            </a:r>
            <a:r>
              <a:rPr lang="en-ID">
                <a:latin typeface="Calibri" panose="020F0502020204030204" pitchFamily="34" charset="0"/>
                <a:ea typeface="Calibri" panose="020F0502020204030204" pitchFamily="34" charset="0"/>
                <a:cs typeface="Times New Roman" panose="02020603050405020304" pitchFamily="18" charset="0"/>
              </a:rPr>
              <a:t>, </a:t>
            </a:r>
            <a:r>
              <a:rPr lang="en-ID" smtClean="0">
                <a:latin typeface="Calibri" panose="020F0502020204030204" pitchFamily="34" charset="0"/>
                <a:ea typeface="Calibri" panose="020F0502020204030204" pitchFamily="34" charset="0"/>
                <a:cs typeface="Times New Roman" panose="02020603050405020304" pitchFamily="18" charset="0"/>
              </a:rPr>
              <a:t>khi người dùng nhấn nút “ Nhấn vào tôi, “ sự kiện </a:t>
            </a:r>
            <a:r>
              <a:rPr lang="en-ID" b="1" smtClean="0">
                <a:latin typeface="Calibri" panose="020F0502020204030204" pitchFamily="34" charset="0"/>
                <a:ea typeface="Calibri" panose="020F0502020204030204" pitchFamily="34" charset="0"/>
                <a:cs typeface="Times New Roman" panose="02020603050405020304" pitchFamily="18" charset="0"/>
              </a:rPr>
              <a:t>click </a:t>
            </a:r>
            <a:r>
              <a:rPr lang="en-ID" smtClean="0">
                <a:latin typeface="Calibri" panose="020F0502020204030204" pitchFamily="34" charset="0"/>
                <a:ea typeface="Calibri" panose="020F0502020204030204" pitchFamily="34" charset="0"/>
                <a:cs typeface="Times New Roman" panose="02020603050405020304" pitchFamily="18" charset="0"/>
              </a:rPr>
              <a:t>sẽ được kích hoạt và gọi đến hàm </a:t>
            </a:r>
            <a:r>
              <a:rPr lang="en-ID" b="1" smtClean="0">
                <a:latin typeface="Calibri" panose="020F0502020204030204" pitchFamily="34" charset="0"/>
                <a:ea typeface="Calibri" panose="020F0502020204030204" pitchFamily="34" charset="0"/>
                <a:cs typeface="Times New Roman" panose="02020603050405020304" pitchFamily="18" charset="0"/>
              </a:rPr>
              <a:t>chaoHoi(), </a:t>
            </a:r>
            <a:r>
              <a:rPr lang="en-ID" smtClean="0">
                <a:latin typeface="Calibri" panose="020F0502020204030204" pitchFamily="34" charset="0"/>
                <a:ea typeface="Calibri" panose="020F0502020204030204" pitchFamily="34" charset="0"/>
                <a:cs typeface="Times New Roman" panose="02020603050405020304" pitchFamily="18" charset="0"/>
              </a:rPr>
              <a:t>hiển thị một thông báo pop-up với nội dung “Xin chào! Bạn đã nhấn nút.”</a:t>
            </a:r>
            <a:endParaRPr lang="en-US"/>
          </a:p>
        </p:txBody>
      </p:sp>
      <p:pic>
        <p:nvPicPr>
          <p:cNvPr id="4" name="Picture 3"/>
          <p:cNvPicPr>
            <a:picLocks noChangeAspect="1"/>
          </p:cNvPicPr>
          <p:nvPr/>
        </p:nvPicPr>
        <p:blipFill>
          <a:blip r:embed="rId5"/>
          <a:stretch>
            <a:fillRect/>
          </a:stretch>
        </p:blipFill>
        <p:spPr>
          <a:xfrm>
            <a:off x="1139754" y="1338200"/>
            <a:ext cx="7491044" cy="1168520"/>
          </a:xfrm>
          <a:prstGeom prst="rect">
            <a:avLst/>
          </a:prstGeom>
        </p:spPr>
      </p:pic>
      <p:sp>
        <p:nvSpPr>
          <p:cNvPr id="15" name="Rectangle 14"/>
          <p:cNvSpPr/>
          <p:nvPr/>
        </p:nvSpPr>
        <p:spPr>
          <a:xfrm>
            <a:off x="1084065" y="626707"/>
            <a:ext cx="7693263" cy="646331"/>
          </a:xfrm>
          <a:prstGeom prst="rect">
            <a:avLst/>
          </a:prstGeom>
        </p:spPr>
        <p:txBody>
          <a:bodyPr wrap="square">
            <a:spAutoFit/>
          </a:bodyPr>
          <a:lstStyle/>
          <a:p>
            <a:r>
              <a:rPr lang="en-ID">
                <a:latin typeface="Calibri" panose="020F0502020204030204" pitchFamily="34" charset="0"/>
                <a:ea typeface="Calibri" panose="020F0502020204030204" pitchFamily="34" charset="0"/>
                <a:cs typeface="Times New Roman" panose="02020603050405020304" pitchFamily="18" charset="0"/>
              </a:rPr>
              <a:t>Trong ví dụ này, chúng ta sẽ tạo một trang web với một nút và sử dụng JavaScript để hiển thị thông báo khi nút được nhấn</a:t>
            </a:r>
            <a:endParaRPr lang="en-US"/>
          </a:p>
        </p:txBody>
      </p:sp>
    </p:spTree>
    <p:extLst>
      <p:ext uri="{BB962C8B-B14F-4D97-AF65-F5344CB8AC3E}">
        <p14:creationId xmlns:p14="http://schemas.microsoft.com/office/powerpoint/2010/main" val="144674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ppt_x"/>
                                          </p:val>
                                        </p:tav>
                                        <p:tav tm="100000">
                                          <p:val>
                                            <p:strVal val="#ppt_x"/>
                                          </p:val>
                                        </p:tav>
                                      </p:tavLst>
                                    </p:anim>
                                    <p:anim calcmode="lin" valueType="num">
                                      <p:cBhvr additive="base">
                                        <p:cTn id="1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0" y="0"/>
            <a:ext cx="901778" cy="1051560"/>
          </a:xfrm>
          <a:prstGeom prst="rect">
            <a:avLst/>
          </a:prstGeom>
        </p:spPr>
      </p:pic>
      <p:pic>
        <p:nvPicPr>
          <p:cNvPr id="20" name="picture 20"/>
          <p:cNvPicPr>
            <a:picLocks noChangeAspect="1"/>
          </p:cNvPicPr>
          <p:nvPr/>
        </p:nvPicPr>
        <p:blipFill>
          <a:blip r:embed="rId4"/>
          <a:stretch>
            <a:fillRect/>
          </a:stretch>
        </p:blipFill>
        <p:spPr>
          <a:xfrm rot="21600000">
            <a:off x="8025757" y="3840480"/>
            <a:ext cx="1118242" cy="1303019"/>
          </a:xfrm>
          <a:prstGeom prst="rect">
            <a:avLst/>
          </a:prstGeom>
        </p:spPr>
      </p:pic>
      <p:sp>
        <p:nvSpPr>
          <p:cNvPr id="5" name="Rectangle 4"/>
          <p:cNvSpPr/>
          <p:nvPr/>
        </p:nvSpPr>
        <p:spPr>
          <a:xfrm>
            <a:off x="787478" y="921944"/>
            <a:ext cx="7906941" cy="3169970"/>
          </a:xfrm>
          <a:prstGeom prst="rect">
            <a:avLst/>
          </a:prstGeom>
        </p:spPr>
        <p:txBody>
          <a:bodyPr wrap="square">
            <a:spAutoFit/>
          </a:bodyPr>
          <a:lstStyle/>
          <a:p>
            <a:pPr>
              <a:lnSpc>
                <a:spcPct val="107000"/>
              </a:lnSpc>
              <a:spcAft>
                <a:spcPts val="800"/>
              </a:spcAft>
            </a:pPr>
            <a:r>
              <a:rPr lang="en-ID" b="1" kern="0">
                <a:latin typeface="Times New Roman" panose="02020603050405020304" pitchFamily="18" charset="0"/>
                <a:ea typeface="Times New Roman" panose="02020603050405020304" pitchFamily="18" charset="0"/>
                <a:cs typeface="Times New Roman" panose="02020603050405020304" pitchFamily="18" charset="0"/>
              </a:rPr>
              <a:t>4. Tạo biểu mẫu HTML đơn giản</a:t>
            </a:r>
            <a:endParaRPr lang="en-US" sz="1400" kern="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D" b="1" kern="0">
                <a:latin typeface="Times New Roman" panose="02020603050405020304" pitchFamily="18" charset="0"/>
                <a:ea typeface="Times New Roman" panose="02020603050405020304" pitchFamily="18" charset="0"/>
                <a:cs typeface="Times New Roman" panose="02020603050405020304" pitchFamily="18" charset="0"/>
              </a:rPr>
              <a:t>4.1. Hướng dẫn cách tạo biểu mẫu HTML đơn giản với các phần tử nhập liệu</a:t>
            </a:r>
            <a:endParaRPr lang="en-US" sz="1400" kern="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D" kern="0">
                <a:latin typeface="Times New Roman" panose="02020603050405020304" pitchFamily="18" charset="0"/>
                <a:ea typeface="Times New Roman" panose="02020603050405020304" pitchFamily="18" charset="0"/>
                <a:cs typeface="Times New Roman" panose="02020603050405020304" pitchFamily="18" charset="0"/>
              </a:rPr>
              <a:t>Chúng em đã tạo một trang web bán hàng đơn giản sử dụng HTML, CSS và JavaScript. Trang web này bao gồm danh sách sản phẩm và một giỏ hàng để thêm sản phẩm và tính tổng </a:t>
            </a:r>
            <a:r>
              <a:rPr lang="en-ID" kern="0">
                <a:latin typeface="Times New Roman" panose="02020603050405020304" pitchFamily="18" charset="0"/>
                <a:ea typeface="Times New Roman" panose="02020603050405020304" pitchFamily="18" charset="0"/>
                <a:cs typeface="Times New Roman" panose="02020603050405020304" pitchFamily="18" charset="0"/>
              </a:rPr>
              <a:t>cộng</a:t>
            </a:r>
            <a:r>
              <a:rPr lang="en-ID" kern="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D" b="1" kern="0">
                <a:latin typeface="Times New Roman" panose="02020603050405020304" pitchFamily="18" charset="0"/>
                <a:ea typeface="Times New Roman" panose="02020603050405020304" pitchFamily="18" charset="0"/>
                <a:cs typeface="Times New Roman" panose="02020603050405020304" pitchFamily="18" charset="0"/>
              </a:rPr>
              <a:t>4.2 Tạo kiểu cho trang web bằng CSS</a:t>
            </a:r>
            <a:endParaRPr lang="en-US" sz="1400" kern="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D" kern="0">
                <a:latin typeface="Times New Roman" panose="02020603050405020304" pitchFamily="18" charset="0"/>
                <a:ea typeface="Times New Roman" panose="02020603050405020304" pitchFamily="18" charset="0"/>
                <a:cs typeface="Times New Roman" panose="02020603050405020304" pitchFamily="18" charset="0"/>
              </a:rPr>
              <a:t>Chúng em đã sử dụng CSS để tạo kiểu cho trang web. Điều này bao gồm định dạng văn bản, màu sắc, cỡ chữ, và vị trí của các phần tử như tiêu đề, danh sách sản phẩm, giỏ hàng và </a:t>
            </a:r>
            <a:r>
              <a:rPr lang="en-ID" kern="0">
                <a:latin typeface="Times New Roman" panose="02020603050405020304" pitchFamily="18" charset="0"/>
                <a:ea typeface="Times New Roman" panose="02020603050405020304" pitchFamily="18" charset="0"/>
                <a:cs typeface="Times New Roman" panose="02020603050405020304" pitchFamily="18" charset="0"/>
              </a:rPr>
              <a:t>nút</a:t>
            </a:r>
            <a:r>
              <a:rPr lang="en-ID" kern="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727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0" y="0"/>
            <a:ext cx="901778" cy="1051560"/>
          </a:xfrm>
          <a:prstGeom prst="rect">
            <a:avLst/>
          </a:prstGeom>
        </p:spPr>
      </p:pic>
      <p:pic>
        <p:nvPicPr>
          <p:cNvPr id="20" name="picture 20"/>
          <p:cNvPicPr>
            <a:picLocks noChangeAspect="1"/>
          </p:cNvPicPr>
          <p:nvPr/>
        </p:nvPicPr>
        <p:blipFill>
          <a:blip r:embed="rId4"/>
          <a:stretch>
            <a:fillRect/>
          </a:stretch>
        </p:blipFill>
        <p:spPr>
          <a:xfrm rot="21600000">
            <a:off x="8025757" y="3840480"/>
            <a:ext cx="1118242" cy="1303019"/>
          </a:xfrm>
          <a:prstGeom prst="rect">
            <a:avLst/>
          </a:prstGeom>
        </p:spPr>
      </p:pic>
      <p:sp>
        <p:nvSpPr>
          <p:cNvPr id="5" name="Rectangle 4"/>
          <p:cNvSpPr/>
          <p:nvPr/>
        </p:nvSpPr>
        <p:spPr>
          <a:xfrm>
            <a:off x="840818" y="586591"/>
            <a:ext cx="7906941" cy="3970318"/>
          </a:xfrm>
          <a:prstGeom prst="rect">
            <a:avLst/>
          </a:prstGeom>
        </p:spPr>
        <p:txBody>
          <a:bodyPr wrap="square">
            <a:spAutoFit/>
          </a:bodyPr>
          <a:lstStyle/>
          <a:p>
            <a:r>
              <a:rPr lang="en-ID" b="1"/>
              <a:t>4.3. Sử dụng JavaScript để xử lý dữ liệu từ biểu mẫu</a:t>
            </a:r>
            <a:endParaRPr lang="en-US"/>
          </a:p>
          <a:p>
            <a:r>
              <a:rPr lang="en-ID" b="1"/>
              <a:t>4.3.1. Hướng dẫn cách thêm sản phẩm vào giỏ hàng</a:t>
            </a:r>
            <a:endParaRPr lang="en-US"/>
          </a:p>
          <a:p>
            <a:r>
              <a:rPr lang="en-ID"/>
              <a:t>Chúng em đã thêm chức năng thêm sản phẩm vào giỏ hàng bằng cách sử dụng JavaScript. Khi người dùng nhấp vào nút "Thêm vào giỏ hàng", sản phẩm và giá tiền của nó được thêm vào giỏ hàng.</a:t>
            </a:r>
            <a:endParaRPr lang="en-US"/>
          </a:p>
          <a:p>
            <a:r>
              <a:rPr lang="en-ID"/>
              <a:t> </a:t>
            </a:r>
            <a:endParaRPr lang="en-US"/>
          </a:p>
          <a:p>
            <a:r>
              <a:rPr lang="en-ID" b="1"/>
              <a:t>4.3.2. Hướng dẫn cách cập nhật hiển thị giỏ hàng</a:t>
            </a:r>
            <a:endParaRPr lang="en-US"/>
          </a:p>
          <a:p>
            <a:r>
              <a:rPr lang="en-ID"/>
              <a:t>Chúng em đã tạo một hàm `updateCart()` để cập nhật hiển thị giỏ hàng. Hàm này xóa danh sách giỏ hàng hiện tại và hiển thị danh sách sản phẩm trong giỏ hàng cùng tổng giá trị của giỏ hàng.</a:t>
            </a:r>
            <a:endParaRPr lang="en-US"/>
          </a:p>
          <a:p>
            <a:r>
              <a:rPr lang="en-ID"/>
              <a:t> </a:t>
            </a:r>
            <a:endParaRPr lang="en-US"/>
          </a:p>
          <a:p>
            <a:r>
              <a:rPr lang="en-ID" b="1"/>
              <a:t>4.3.3 Khởi tạo trang web với giỏ hàng trống</a:t>
            </a:r>
            <a:endParaRPr lang="en-US"/>
          </a:p>
          <a:p>
            <a:r>
              <a:rPr lang="en-ID"/>
              <a:t>Trang web được khởi tạo với giỏ hàng trống bằng cách gọi hàm `updateCart()` khi trang web được tải.</a:t>
            </a:r>
            <a:endParaRPr lang="en-US"/>
          </a:p>
        </p:txBody>
      </p:sp>
    </p:spTree>
    <p:extLst>
      <p:ext uri="{BB962C8B-B14F-4D97-AF65-F5344CB8AC3E}">
        <p14:creationId xmlns:p14="http://schemas.microsoft.com/office/powerpoint/2010/main" val="413244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0" y="0"/>
            <a:ext cx="901778" cy="1051560"/>
          </a:xfrm>
          <a:prstGeom prst="rect">
            <a:avLst/>
          </a:prstGeom>
        </p:spPr>
      </p:pic>
      <p:pic>
        <p:nvPicPr>
          <p:cNvPr id="20" name="picture 20"/>
          <p:cNvPicPr>
            <a:picLocks noChangeAspect="1"/>
          </p:cNvPicPr>
          <p:nvPr/>
        </p:nvPicPr>
        <p:blipFill>
          <a:blip r:embed="rId4"/>
          <a:stretch>
            <a:fillRect/>
          </a:stretch>
        </p:blipFill>
        <p:spPr>
          <a:xfrm rot="21600000">
            <a:off x="8025757" y="3840480"/>
            <a:ext cx="1118242" cy="1303019"/>
          </a:xfrm>
          <a:prstGeom prst="rect">
            <a:avLst/>
          </a:prstGeom>
        </p:spPr>
      </p:pic>
      <p:sp>
        <p:nvSpPr>
          <p:cNvPr id="5" name="Rectangle 4"/>
          <p:cNvSpPr/>
          <p:nvPr/>
        </p:nvSpPr>
        <p:spPr>
          <a:xfrm>
            <a:off x="784615" y="1318111"/>
            <a:ext cx="7800262" cy="2031325"/>
          </a:xfrm>
          <a:prstGeom prst="rect">
            <a:avLst/>
          </a:prstGeom>
        </p:spPr>
        <p:txBody>
          <a:bodyPr wrap="square">
            <a:spAutoFit/>
          </a:bodyPr>
          <a:lstStyle/>
          <a:p>
            <a:r>
              <a:rPr lang="en-ID" b="1"/>
              <a:t>5. Quy trình phát triển web</a:t>
            </a:r>
            <a:endParaRPr lang="en-US"/>
          </a:p>
          <a:p>
            <a:r>
              <a:rPr lang="en-ID" b="1"/>
              <a:t>5.1 Giới thiệu về quy trình phát triển web từ lập kế hoạch đến triển khai trang web</a:t>
            </a:r>
            <a:endParaRPr lang="en-US"/>
          </a:p>
          <a:p>
            <a:r>
              <a:rPr lang="en-ID"/>
              <a:t>Quy trình phát triển trang web là một loạt các bước mà chúng em đã thực hiện để tạo ra trang web bán hàng đơn giản. Quy trình này bao gồm các giai đoạn từ lập kế hoạch, phân tích yêu cầu, thiết kế giao diện, phát triển, kiểm thử và triển khai trang web.</a:t>
            </a:r>
            <a:endParaRPr lang="en-US"/>
          </a:p>
        </p:txBody>
      </p:sp>
    </p:spTree>
    <p:extLst>
      <p:ext uri="{BB962C8B-B14F-4D97-AF65-F5344CB8AC3E}">
        <p14:creationId xmlns:p14="http://schemas.microsoft.com/office/powerpoint/2010/main" val="398445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0" y="0"/>
            <a:ext cx="901778" cy="1051560"/>
          </a:xfrm>
          <a:prstGeom prst="rect">
            <a:avLst/>
          </a:prstGeom>
        </p:spPr>
      </p:pic>
      <p:pic>
        <p:nvPicPr>
          <p:cNvPr id="20" name="picture 20"/>
          <p:cNvPicPr>
            <a:picLocks noChangeAspect="1"/>
          </p:cNvPicPr>
          <p:nvPr/>
        </p:nvPicPr>
        <p:blipFill>
          <a:blip r:embed="rId4"/>
          <a:stretch>
            <a:fillRect/>
          </a:stretch>
        </p:blipFill>
        <p:spPr>
          <a:xfrm rot="21600000">
            <a:off x="8025757" y="3840480"/>
            <a:ext cx="1118242" cy="1303019"/>
          </a:xfrm>
          <a:prstGeom prst="rect">
            <a:avLst/>
          </a:prstGeom>
        </p:spPr>
      </p:pic>
      <p:sp>
        <p:nvSpPr>
          <p:cNvPr id="5" name="Rectangle 4"/>
          <p:cNvSpPr/>
          <p:nvPr/>
        </p:nvSpPr>
        <p:spPr>
          <a:xfrm>
            <a:off x="784615" y="1318111"/>
            <a:ext cx="7800262" cy="2031325"/>
          </a:xfrm>
          <a:prstGeom prst="rect">
            <a:avLst/>
          </a:prstGeom>
        </p:spPr>
        <p:txBody>
          <a:bodyPr wrap="square">
            <a:spAutoFit/>
          </a:bodyPr>
          <a:lstStyle/>
          <a:p>
            <a:r>
              <a:rPr lang="en-ID" b="1"/>
              <a:t>5. Quy trình phát triển web</a:t>
            </a:r>
            <a:endParaRPr lang="en-US"/>
          </a:p>
          <a:p>
            <a:r>
              <a:rPr lang="en-ID" b="1"/>
              <a:t>5.1 Giới thiệu về quy trình phát triển web từ lập kế hoạch đến triển khai trang web</a:t>
            </a:r>
            <a:endParaRPr lang="en-US"/>
          </a:p>
          <a:p>
            <a:r>
              <a:rPr lang="en-ID"/>
              <a:t>Quy trình phát triển trang web là một loạt các bước mà chúng em đã thực hiện để tạo ra trang web bán hàng đơn giản. Quy trình này bao gồm các giai đoạn từ lập kế hoạch, phân tích yêu cầu, thiết kế giao diện, phát triển, kiểm thử và triển khai trang web.</a:t>
            </a:r>
            <a:endParaRPr lang="en-US"/>
          </a:p>
        </p:txBody>
      </p:sp>
    </p:spTree>
    <p:extLst>
      <p:ext uri="{BB962C8B-B14F-4D97-AF65-F5344CB8AC3E}">
        <p14:creationId xmlns:p14="http://schemas.microsoft.com/office/powerpoint/2010/main" val="270730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0" y="0"/>
            <a:ext cx="640393" cy="746760"/>
          </a:xfrm>
          <a:prstGeom prst="rect">
            <a:avLst/>
          </a:prstGeom>
        </p:spPr>
      </p:pic>
      <p:pic>
        <p:nvPicPr>
          <p:cNvPr id="20" name="picture 20"/>
          <p:cNvPicPr>
            <a:picLocks noChangeAspect="1"/>
          </p:cNvPicPr>
          <p:nvPr/>
        </p:nvPicPr>
        <p:blipFill>
          <a:blip r:embed="rId4"/>
          <a:stretch>
            <a:fillRect/>
          </a:stretch>
        </p:blipFill>
        <p:spPr>
          <a:xfrm rot="21600000">
            <a:off x="8359267" y="4229100"/>
            <a:ext cx="784731" cy="914399"/>
          </a:xfrm>
          <a:prstGeom prst="rect">
            <a:avLst/>
          </a:prstGeom>
        </p:spPr>
      </p:pic>
      <p:sp>
        <p:nvSpPr>
          <p:cNvPr id="5" name="Rectangle 4"/>
          <p:cNvSpPr/>
          <p:nvPr/>
        </p:nvSpPr>
        <p:spPr>
          <a:xfrm>
            <a:off x="640394" y="373379"/>
            <a:ext cx="8353899" cy="4247317"/>
          </a:xfrm>
          <a:prstGeom prst="rect">
            <a:avLst/>
          </a:prstGeom>
        </p:spPr>
        <p:txBody>
          <a:bodyPr wrap="square">
            <a:spAutoFit/>
          </a:bodyPr>
          <a:lstStyle/>
          <a:p>
            <a:r>
              <a:rPr lang="en-ID" b="1"/>
              <a:t>5.2 Xác định các bước quan trọng như phân tích yêu cầu, thiết kế giao diện, phát triển, kiểm thử và triển khai</a:t>
            </a:r>
            <a:endParaRPr lang="en-US"/>
          </a:p>
          <a:p>
            <a:r>
              <a:rPr lang="en-ID"/>
              <a:t>- Phân tích yêu cầu: Trước khi bắt đầu phát triển trang web, chúng em đã xác định các yêu cầu cụ thể của dự án, bao gồm việc tạo danh sách sản phẩm, giỏ hàng và tính năng thêm sản phẩm vào giỏ hàng.</a:t>
            </a:r>
            <a:endParaRPr lang="en-US"/>
          </a:p>
          <a:p>
            <a:r>
              <a:rPr lang="en-ID"/>
              <a:t>- Thiết kế giao diện: Chúng em đã thiết kế giao diện trang web với sự xem xét về cách hiển thị sản phẩm, giỏ hàng, tiêu đề và phần chân trang.</a:t>
            </a:r>
            <a:endParaRPr lang="en-US"/>
          </a:p>
          <a:p>
            <a:r>
              <a:rPr lang="en-ID"/>
              <a:t>- Phát triển: Sau khi hoàn thiện thiết kế, chúng em đã sử dụng HTML để tạo cấu trúc trang web, CSS để tạo kiểu và JavaScript để thêm tính năng thêm sản phẩm vào giỏ hàng.</a:t>
            </a:r>
            <a:endParaRPr lang="en-US"/>
          </a:p>
          <a:p>
            <a:r>
              <a:rPr lang="en-ID"/>
              <a:t>- Kiểm thử: Chúng em đã kiểm tra trang web để đảm bảo rằng tính năng thêm sản phẩm vào giỏ hàng hoạt động đúng cách và hiển thị giỏ hàng và tổng giá trị đúng.</a:t>
            </a:r>
            <a:endParaRPr lang="en-US"/>
          </a:p>
          <a:p>
            <a:r>
              <a:rPr lang="en-ID"/>
              <a:t>- Triển khai: Trang web đã được triển khai để có thể truy cập trực tiếp từ trình duyệt </a:t>
            </a:r>
            <a:r>
              <a:rPr lang="en-ID"/>
              <a:t>web</a:t>
            </a:r>
            <a:r>
              <a:rPr lang="en-ID" smtClean="0"/>
              <a:t>.</a:t>
            </a:r>
            <a:endParaRPr lang="en-US"/>
          </a:p>
        </p:txBody>
      </p:sp>
    </p:spTree>
    <p:extLst>
      <p:ext uri="{BB962C8B-B14F-4D97-AF65-F5344CB8AC3E}">
        <p14:creationId xmlns:p14="http://schemas.microsoft.com/office/powerpoint/2010/main" val="241566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7"/>
          <p:cNvPicPr>
            <a:picLocks noChangeAspect="1"/>
          </p:cNvPicPr>
          <p:nvPr/>
        </p:nvPicPr>
        <p:blipFill>
          <a:blip r:embed="rId2"/>
          <a:stretch>
            <a:fillRect/>
          </a:stretch>
        </p:blipFill>
        <p:spPr>
          <a:xfrm rot="21600000">
            <a:off x="0" y="0"/>
            <a:ext cx="9144000" cy="5143500"/>
          </a:xfrm>
          <a:prstGeom prst="rect">
            <a:avLst/>
          </a:prstGeom>
        </p:spPr>
      </p:pic>
      <p:pic>
        <p:nvPicPr>
          <p:cNvPr id="19" name="picture 19"/>
          <p:cNvPicPr>
            <a:picLocks noChangeAspect="1"/>
          </p:cNvPicPr>
          <p:nvPr/>
        </p:nvPicPr>
        <p:blipFill>
          <a:blip r:embed="rId3"/>
          <a:stretch>
            <a:fillRect/>
          </a:stretch>
        </p:blipFill>
        <p:spPr>
          <a:xfrm rot="21600000">
            <a:off x="0" y="0"/>
            <a:ext cx="640393" cy="746760"/>
          </a:xfrm>
          <a:prstGeom prst="rect">
            <a:avLst/>
          </a:prstGeom>
        </p:spPr>
      </p:pic>
      <p:pic>
        <p:nvPicPr>
          <p:cNvPr id="20" name="picture 20"/>
          <p:cNvPicPr>
            <a:picLocks noChangeAspect="1"/>
          </p:cNvPicPr>
          <p:nvPr/>
        </p:nvPicPr>
        <p:blipFill>
          <a:blip r:embed="rId4"/>
          <a:stretch>
            <a:fillRect/>
          </a:stretch>
        </p:blipFill>
        <p:spPr>
          <a:xfrm rot="21600000">
            <a:off x="8359267" y="4229100"/>
            <a:ext cx="784731" cy="914399"/>
          </a:xfrm>
          <a:prstGeom prst="rect">
            <a:avLst/>
          </a:prstGeom>
        </p:spPr>
      </p:pic>
      <p:sp>
        <p:nvSpPr>
          <p:cNvPr id="5" name="Rectangle 4"/>
          <p:cNvSpPr/>
          <p:nvPr/>
        </p:nvSpPr>
        <p:spPr>
          <a:xfrm>
            <a:off x="640394" y="654248"/>
            <a:ext cx="8259766" cy="2585323"/>
          </a:xfrm>
          <a:prstGeom prst="rect">
            <a:avLst/>
          </a:prstGeom>
        </p:spPr>
        <p:txBody>
          <a:bodyPr wrap="square">
            <a:spAutoFit/>
          </a:bodyPr>
          <a:lstStyle/>
          <a:p>
            <a:r>
              <a:rPr lang="en-ID" b="1"/>
              <a:t>5.3 Hướng dẫn về vai trò và trách nhiệm của từng thành viên trong nhóm, bao gồm quản lý dự án và phát triển</a:t>
            </a:r>
            <a:endParaRPr lang="en-US"/>
          </a:p>
          <a:p>
            <a:r>
              <a:rPr lang="en-ID"/>
              <a:t>- Quản lý dự án: Trong nhóm, vai trò của quản lý dự án là đảm bảo rằng quy trình phát triển web diễn ra một cách suôn sẻ. Quản lý dự án đã xác định lịch trình, phân công nhiệm vụ cho các thành viên và đảm bảo rằng dự án được hoàn thành đúng hạn.</a:t>
            </a:r>
            <a:endParaRPr lang="en-US"/>
          </a:p>
          <a:p>
            <a:r>
              <a:rPr lang="en-ID"/>
              <a:t>- Phát triển: Các thành viên trong nhóm phát triển đã thực hiện công việc cụ thể như tạo trang web, viết mã HTML, CSS và JavaScript, và xác định các yêu cầu của trang web.</a:t>
            </a:r>
            <a:endParaRPr lang="en-US"/>
          </a:p>
        </p:txBody>
      </p:sp>
    </p:spTree>
    <p:extLst>
      <p:ext uri="{BB962C8B-B14F-4D97-AF65-F5344CB8AC3E}">
        <p14:creationId xmlns:p14="http://schemas.microsoft.com/office/powerpoint/2010/main" val="179302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1857</Words>
  <Application>Microsoft Office PowerPoint</Application>
  <PresentationFormat>On-screen Show (16:9)</PresentationFormat>
  <Paragraphs>84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chung</dc:creator>
  <cp:lastModifiedBy>chung</cp:lastModifiedBy>
  <cp:revision>9</cp:revision>
  <dcterms:modified xsi:type="dcterms:W3CDTF">2023-09-24T06:27:34Z</dcterms:modified>
</cp:coreProperties>
</file>